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sldIdLst>
    <p:sldId id="256" r:id="rId2"/>
    <p:sldId id="260" r:id="rId3"/>
    <p:sldId id="257" r:id="rId4"/>
    <p:sldId id="258" r:id="rId5"/>
    <p:sldId id="259" r:id="rId6"/>
    <p:sldId id="261" r:id="rId7"/>
    <p:sldId id="277" r:id="rId8"/>
    <p:sldId id="280" r:id="rId9"/>
    <p:sldId id="278" r:id="rId10"/>
    <p:sldId id="279" r:id="rId11"/>
    <p:sldId id="275" r:id="rId12"/>
    <p:sldId id="262" r:id="rId13"/>
    <p:sldId id="263" r:id="rId14"/>
    <p:sldId id="264" r:id="rId15"/>
    <p:sldId id="272" r:id="rId16"/>
    <p:sldId id="27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495FA3F-FA66-4D25-8B5A-147A674DED0A}">
          <p14:sldIdLst>
            <p14:sldId id="256"/>
            <p14:sldId id="260"/>
            <p14:sldId id="257"/>
            <p14:sldId id="258"/>
            <p14:sldId id="259"/>
            <p14:sldId id="261"/>
            <p14:sldId id="277"/>
            <p14:sldId id="280"/>
            <p14:sldId id="278"/>
            <p14:sldId id="279"/>
            <p14:sldId id="275"/>
            <p14:sldId id="262"/>
            <p14:sldId id="263"/>
            <p14:sldId id="264"/>
          </p14:sldIdLst>
        </p14:section>
        <p14:section name="Appendix" id="{A3070CCB-5076-44CA-BBBC-396956981918}">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96A595D-548E-4674-9043-79F876C6DFE5}"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3847905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6A595D-548E-4674-9043-79F876C6DFE5}"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35669936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6A595D-548E-4674-9043-79F876C6DFE5}"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2084946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96A595D-548E-4674-9043-79F876C6DFE5}"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587769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6A595D-548E-4674-9043-79F876C6DFE5}" type="datetimeFigureOut">
              <a:rPr lang="en-US" smtClean="0"/>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2605049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6A595D-548E-4674-9043-79F876C6DFE5}" type="datetimeFigureOut">
              <a:rPr lang="en-US" smtClean="0"/>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365582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6A595D-548E-4674-9043-79F876C6DFE5}" type="datetimeFigureOut">
              <a:rPr lang="en-US" smtClean="0"/>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2192934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6A595D-548E-4674-9043-79F876C6DFE5}"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1851883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6A595D-548E-4674-9043-79F876C6DFE5}"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4110775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6A595D-548E-4674-9043-79F876C6DFE5}"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3939601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6A595D-548E-4674-9043-79F876C6DFE5}"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3969722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6A595D-548E-4674-9043-79F876C6DFE5}"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42BC0D-0532-495D-B8B4-E60BF7FFD9E8}"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802667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6A595D-548E-4674-9043-79F876C6DFE5}"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24056854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96A595D-548E-4674-9043-79F876C6DFE5}" type="datetimeFigureOut">
              <a:rPr lang="en-US" smtClean="0"/>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25391438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96A595D-548E-4674-9043-79F876C6DFE5}" type="datetimeFigureOut">
              <a:rPr lang="en-US" smtClean="0"/>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12461055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6A595D-548E-4674-9043-79F876C6DFE5}"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3473118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6A595D-548E-4674-9043-79F876C6DFE5}"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2451025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896A595D-548E-4674-9043-79F876C6DFE5}" type="datetimeFigureOut">
              <a:rPr lang="en-US" smtClean="0"/>
              <a:t>5/8/2026</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1A42BC0D-0532-495D-B8B4-E60BF7FFD9E8}" type="slidenum">
              <a:rPr lang="en-US" smtClean="0"/>
              <a:t>‹#›</a:t>
            </a:fld>
            <a:endParaRPr lang="en-US"/>
          </a:p>
        </p:txBody>
      </p:sp>
    </p:spTree>
    <p:extLst>
      <p:ext uri="{BB962C8B-B14F-4D97-AF65-F5344CB8AC3E}">
        <p14:creationId xmlns:p14="http://schemas.microsoft.com/office/powerpoint/2010/main" val="2388292706"/>
      </p:ext>
    </p:extLst>
  </p:cSld>
  <p:clrMap bg1="dk1" tx1="lt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archive.ics.uci.edu/dataset/34/diabete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docs.python.org/3/library/tarfile.html" TargetMode="External"/><Relationship Id="rId2" Type="http://schemas.openxmlformats.org/officeDocument/2006/relationships/hyperlink" Target="https://pypi.org/project/ncompres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06226-773D-A3AA-D6AC-BD413B90C6B7}"/>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dirty="0">
                <a:solidFill>
                  <a:srgbClr val="FFFFFF"/>
                </a:solidFill>
                <a:latin typeface="+mj-lt"/>
                <a:ea typeface="+mj-ea"/>
                <a:cs typeface="+mj-cs"/>
              </a:rPr>
              <a:t>Final Project</a:t>
            </a:r>
          </a:p>
        </p:txBody>
      </p:sp>
      <p:sp>
        <p:nvSpPr>
          <p:cNvPr id="3" name="Subtitle 2">
            <a:extLst>
              <a:ext uri="{FF2B5EF4-FFF2-40B4-BE49-F238E27FC236}">
                <a16:creationId xmlns:a16="http://schemas.microsoft.com/office/drawing/2014/main" id="{DA4F74F1-C259-217B-716F-72B2B4DD7822}"/>
              </a:ext>
            </a:extLst>
          </p:cNvPr>
          <p:cNvSpPr>
            <a:spLocks noGrp="1"/>
          </p:cNvSpPr>
          <p:nvPr>
            <p:ph idx="1"/>
          </p:nvPr>
        </p:nvSpPr>
        <p:spPr>
          <a:xfrm>
            <a:off x="1350682" y="4870824"/>
            <a:ext cx="10005951" cy="1458258"/>
          </a:xfrm>
        </p:spPr>
        <p:txBody>
          <a:bodyPr vert="horz" lIns="91440" tIns="45720" rIns="91440" bIns="45720" rtlCol="0" anchor="ctr">
            <a:normAutofit/>
          </a:bodyPr>
          <a:lstStyle/>
          <a:p>
            <a:pPr marL="0" indent="0">
              <a:buNone/>
            </a:pPr>
            <a:r>
              <a:rPr lang="en-US" sz="2400" kern="1200" dirty="0">
                <a:solidFill>
                  <a:schemeClr val="tx1"/>
                </a:solidFill>
                <a:latin typeface="+mn-lt"/>
                <a:ea typeface="+mn-ea"/>
                <a:cs typeface="+mn-cs"/>
              </a:rPr>
              <a:t>Ahmad, Chris</a:t>
            </a:r>
          </a:p>
        </p:txBody>
      </p:sp>
    </p:spTree>
    <p:extLst>
      <p:ext uri="{BB962C8B-B14F-4D97-AF65-F5344CB8AC3E}">
        <p14:creationId xmlns:p14="http://schemas.microsoft.com/office/powerpoint/2010/main" val="1638858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E97C5-73FD-6654-6302-5E7561EE9B26}"/>
              </a:ext>
            </a:extLst>
          </p:cNvPr>
          <p:cNvSpPr>
            <a:spLocks noGrp="1"/>
          </p:cNvSpPr>
          <p:nvPr>
            <p:ph type="title"/>
          </p:nvPr>
        </p:nvSpPr>
        <p:spPr>
          <a:xfrm>
            <a:off x="838200" y="365126"/>
            <a:ext cx="10515600" cy="667262"/>
          </a:xfrm>
        </p:spPr>
        <p:txBody>
          <a:bodyPr>
            <a:normAutofit/>
          </a:bodyPr>
          <a:lstStyle/>
          <a:p>
            <a:r>
              <a:rPr lang="en-US" sz="2000" dirty="0">
                <a:latin typeface="Arial" panose="020B0604020202020204" pitchFamily="34" charset="0"/>
                <a:cs typeface="Arial" panose="020B0604020202020204" pitchFamily="34" charset="0"/>
              </a:rPr>
              <a:t>Slide 2: Contributions of each team member (1 slide)</a:t>
            </a:r>
          </a:p>
        </p:txBody>
      </p:sp>
      <p:sp>
        <p:nvSpPr>
          <p:cNvPr id="3" name="Content Placeholder 2">
            <a:extLst>
              <a:ext uri="{FF2B5EF4-FFF2-40B4-BE49-F238E27FC236}">
                <a16:creationId xmlns:a16="http://schemas.microsoft.com/office/drawing/2014/main" id="{B053E3CB-1518-64B7-EB5E-7ECB95350F4D}"/>
              </a:ext>
            </a:extLst>
          </p:cNvPr>
          <p:cNvSpPr>
            <a:spLocks noGrp="1"/>
          </p:cNvSpPr>
          <p:nvPr>
            <p:ph idx="1"/>
          </p:nvPr>
        </p:nvSpPr>
        <p:spPr>
          <a:xfrm>
            <a:off x="838200" y="1032388"/>
            <a:ext cx="10515600" cy="5604386"/>
          </a:xfrm>
        </p:spPr>
        <p:txBody>
          <a:bodyPr>
            <a:noAutofit/>
          </a:bodyPr>
          <a:lstStyle/>
          <a:p>
            <a:pPr marL="0" indent="0">
              <a:lnSpc>
                <a:spcPct val="100000"/>
              </a:lnSpc>
              <a:buNone/>
            </a:pPr>
            <a:r>
              <a:rPr lang="en-US" sz="1200" dirty="0">
                <a:effectLst/>
                <a:latin typeface="Arial" panose="020B0604020202020204" pitchFamily="34" charset="0"/>
                <a:cs typeface="Arial" panose="020B0604020202020204" pitchFamily="34" charset="0"/>
              </a:rPr>
              <a:t>Both team members each contributed to the project in each developing independent optimization solutions and combining both approaches together in a compare and contrast discussion of the pros and cons based on accuracy metrics. Therefore, both team members independently engaged with all steps of optimization problem formulation: </a:t>
            </a:r>
          </a:p>
          <a:p>
            <a:pPr>
              <a:lnSpc>
                <a:spcPct val="100000"/>
              </a:lnSpc>
            </a:pPr>
            <a:r>
              <a:rPr lang="en-US" sz="1200" dirty="0">
                <a:effectLst/>
                <a:latin typeface="Arial" panose="020B0604020202020204" pitchFamily="34" charset="0"/>
                <a:cs typeface="Arial" panose="020B0604020202020204" pitchFamily="34" charset="0"/>
              </a:rPr>
              <a:t>Collective brainstorming and discussion of data to use </a:t>
            </a:r>
          </a:p>
          <a:p>
            <a:pPr>
              <a:lnSpc>
                <a:spcPct val="100000"/>
              </a:lnSpc>
            </a:pPr>
            <a:r>
              <a:rPr lang="en-US" sz="1200" dirty="0">
                <a:effectLst/>
                <a:latin typeface="Arial" panose="020B0604020202020204" pitchFamily="34" charset="0"/>
                <a:cs typeface="Arial" panose="020B0604020202020204" pitchFamily="34" charset="0"/>
              </a:rPr>
              <a:t>Data extraction, transformation, and cleansing </a:t>
            </a:r>
          </a:p>
          <a:p>
            <a:pPr>
              <a:lnSpc>
                <a:spcPct val="100000"/>
              </a:lnSpc>
            </a:pPr>
            <a:r>
              <a:rPr lang="en-US" sz="1200" dirty="0">
                <a:effectLst/>
                <a:latin typeface="Arial" panose="020B0604020202020204" pitchFamily="34" charset="0"/>
                <a:cs typeface="Arial" panose="020B0604020202020204" pitchFamily="34" charset="0"/>
              </a:rPr>
              <a:t>Objective Function Formulation – one of the key differences in our approaches, which we will examine. </a:t>
            </a:r>
          </a:p>
          <a:p>
            <a:pPr lvl="1">
              <a:lnSpc>
                <a:spcPct val="100000"/>
              </a:lnSpc>
            </a:pPr>
            <a:r>
              <a:rPr lang="en-US" sz="1200" dirty="0">
                <a:effectLst/>
                <a:latin typeface="Arial" panose="020B0604020202020204" pitchFamily="34" charset="0"/>
                <a:cs typeface="Arial" panose="020B0604020202020204" pitchFamily="34" charset="0"/>
              </a:rPr>
              <a:t>Ahmad: formed a linear programming objective function with 3 inequality constraints </a:t>
            </a:r>
          </a:p>
          <a:p>
            <a:pPr lvl="1">
              <a:lnSpc>
                <a:spcPct val="100000"/>
              </a:lnSpc>
            </a:pPr>
            <a:r>
              <a:rPr lang="en-US" sz="1200" dirty="0">
                <a:effectLst/>
                <a:latin typeface="Arial" panose="020B0604020202020204" pitchFamily="34" charset="0"/>
                <a:cs typeface="Arial" panose="020B0604020202020204" pitchFamily="34" charset="0"/>
              </a:rPr>
              <a:t>Chris:  formed the traditional mean squared error convex objective function, with L1 and L2 constrains embedded. </a:t>
            </a:r>
          </a:p>
          <a:p>
            <a:pPr>
              <a:lnSpc>
                <a:spcPct val="100000"/>
              </a:lnSpc>
            </a:pPr>
            <a:r>
              <a:rPr lang="en-US" sz="1200" dirty="0">
                <a:effectLst/>
                <a:latin typeface="Arial" panose="020B0604020202020204" pitchFamily="34" charset="0"/>
                <a:cs typeface="Arial" panose="020B0604020202020204" pitchFamily="34" charset="0"/>
              </a:rPr>
              <a:t>Optimization implementation – both members used Python and supplemental numerical and data analysis libraries </a:t>
            </a:r>
          </a:p>
          <a:p>
            <a:pPr lvl="1">
              <a:lnSpc>
                <a:spcPct val="100000"/>
              </a:lnSpc>
            </a:pPr>
            <a:r>
              <a:rPr lang="en-US" sz="1200" dirty="0">
                <a:effectLst/>
                <a:latin typeface="Arial" panose="020B0604020202020204" pitchFamily="34" charset="0"/>
                <a:cs typeface="Arial" panose="020B0604020202020204" pitchFamily="34" charset="0"/>
              </a:rPr>
              <a:t>Ahmad – used python pre-built optimization libraries and explored an alternate tree-based regressor to compare performance with unconstrained and constrained optimizations. </a:t>
            </a:r>
          </a:p>
          <a:p>
            <a:pPr lvl="1">
              <a:lnSpc>
                <a:spcPct val="100000"/>
              </a:lnSpc>
            </a:pPr>
            <a:r>
              <a:rPr lang="en-US" sz="1200" dirty="0">
                <a:effectLst/>
                <a:latin typeface="Arial" panose="020B0604020202020204" pitchFamily="34" charset="0"/>
                <a:cs typeface="Arial" panose="020B0604020202020204" pitchFamily="34" charset="0"/>
              </a:rPr>
              <a:t>Chris – programmed key optimization functions by hand with custom functions for gradient descent, gradient function, ridge penalty, and lasso penalty objective functions. This approach serves to provide a custom version of the optimization that can be tweaked and iterated in future. </a:t>
            </a:r>
          </a:p>
          <a:p>
            <a:pPr>
              <a:lnSpc>
                <a:spcPct val="100000"/>
              </a:lnSpc>
            </a:pPr>
            <a:r>
              <a:rPr lang="en-US" sz="1200" dirty="0">
                <a:effectLst/>
                <a:latin typeface="Arial" panose="020B0604020202020204" pitchFamily="34" charset="0"/>
                <a:cs typeface="Arial" panose="020B0604020202020204" pitchFamily="34" charset="0"/>
              </a:rPr>
              <a:t>Parameter tuning – Ahmad done, Chris can look into hyperparameter tuning his solution </a:t>
            </a:r>
          </a:p>
          <a:p>
            <a:pPr lvl="1">
              <a:lnSpc>
                <a:spcPct val="100000"/>
              </a:lnSpc>
            </a:pPr>
            <a:r>
              <a:rPr lang="en-US" sz="1200" dirty="0">
                <a:effectLst/>
                <a:latin typeface="Arial" panose="020B0604020202020204" pitchFamily="34" charset="0"/>
                <a:cs typeface="Arial" panose="020B0604020202020204" pitchFamily="34" charset="0"/>
              </a:rPr>
              <a:t>Alpha (learning rate) </a:t>
            </a:r>
          </a:p>
          <a:p>
            <a:pPr lvl="1">
              <a:lnSpc>
                <a:spcPct val="100000"/>
              </a:lnSpc>
            </a:pPr>
            <a:r>
              <a:rPr lang="en-US" sz="1200" dirty="0">
                <a:effectLst/>
                <a:latin typeface="Arial" panose="020B0604020202020204" pitchFamily="34" charset="0"/>
                <a:cs typeface="Arial" panose="020B0604020202020204" pitchFamily="34" charset="0"/>
              </a:rPr>
              <a:t>Lambda (regularization parameter) </a:t>
            </a:r>
          </a:p>
          <a:p>
            <a:pPr>
              <a:lnSpc>
                <a:spcPct val="100000"/>
              </a:lnSpc>
            </a:pPr>
            <a:r>
              <a:rPr lang="en-US" sz="1200" dirty="0">
                <a:effectLst/>
                <a:latin typeface="Arial" panose="020B0604020202020204" pitchFamily="34" charset="0"/>
                <a:cs typeface="Arial" panose="020B0604020202020204" pitchFamily="34" charset="0"/>
              </a:rPr>
              <a:t>In-sample vs. Out-of-sample prediction – both members used time-split cross validation to evaluate in-sample and out-of-sample performance (e.g., MSE) </a:t>
            </a:r>
          </a:p>
          <a:p>
            <a:pPr>
              <a:lnSpc>
                <a:spcPct val="100000"/>
              </a:lnSpc>
            </a:pPr>
            <a:r>
              <a:rPr lang="en-US" sz="1200" dirty="0">
                <a:effectLst/>
                <a:latin typeface="Arial" panose="020B0604020202020204" pitchFamily="34" charset="0"/>
                <a:cs typeface="Arial" panose="020B0604020202020204" pitchFamily="34" charset="0"/>
              </a:rPr>
              <a:t>Discussions of results – each member discussed their approach, and reviewed each other’s discussions for reasonableness and accuracy. </a:t>
            </a:r>
          </a:p>
          <a:p>
            <a:pPr>
              <a:lnSpc>
                <a:spcPct val="100000"/>
              </a:lnSpc>
            </a:pPr>
            <a:endParaRPr lang="en-US" sz="120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1511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04D00-B2A5-85B1-6ED7-3AE20CB503FF}"/>
              </a:ext>
            </a:extLst>
          </p:cNvPr>
          <p:cNvSpPr>
            <a:spLocks noGrp="1"/>
          </p:cNvSpPr>
          <p:nvPr>
            <p:ph type="title"/>
          </p:nvPr>
        </p:nvSpPr>
        <p:spPr>
          <a:xfrm>
            <a:off x="320964" y="318944"/>
            <a:ext cx="10515600" cy="595457"/>
          </a:xfrm>
        </p:spPr>
        <p:txBody>
          <a:bodyPr>
            <a:normAutofit/>
          </a:bodyPr>
          <a:lstStyle/>
          <a:p>
            <a:r>
              <a:rPr lang="en-US" sz="2000" dirty="0">
                <a:latin typeface="Arial" panose="020B0604020202020204" pitchFamily="34" charset="0"/>
                <a:cs typeface="Arial" panose="020B0604020202020204" pitchFamily="34" charset="0"/>
              </a:rPr>
              <a:t>3. Problem Description</a:t>
            </a:r>
          </a:p>
        </p:txBody>
      </p:sp>
      <p:sp>
        <p:nvSpPr>
          <p:cNvPr id="3" name="Content Placeholder 2">
            <a:extLst>
              <a:ext uri="{FF2B5EF4-FFF2-40B4-BE49-F238E27FC236}">
                <a16:creationId xmlns:a16="http://schemas.microsoft.com/office/drawing/2014/main" id="{502DEC3E-B1CC-A45C-528E-B25216729017}"/>
              </a:ext>
            </a:extLst>
          </p:cNvPr>
          <p:cNvSpPr>
            <a:spLocks noGrp="1"/>
          </p:cNvSpPr>
          <p:nvPr>
            <p:ph idx="1"/>
          </p:nvPr>
        </p:nvSpPr>
        <p:spPr>
          <a:xfrm>
            <a:off x="320963" y="1114426"/>
            <a:ext cx="11630891" cy="5424630"/>
          </a:xfrm>
        </p:spPr>
        <p:txBody>
          <a:bodyPr>
            <a:noAutofit/>
          </a:bodyPr>
          <a:lstStyle/>
          <a:p>
            <a:pPr marL="0" indent="0">
              <a:lnSpc>
                <a:spcPct val="100000"/>
              </a:lnSpc>
              <a:buNone/>
            </a:pPr>
            <a:r>
              <a:rPr lang="en-US" sz="1200" b="1" dirty="0">
                <a:effectLst/>
                <a:latin typeface="Arial" panose="020B0604020202020204" pitchFamily="34" charset="0"/>
                <a:cs typeface="Arial" panose="020B0604020202020204" pitchFamily="34" charset="0"/>
              </a:rPr>
              <a:t>Goal:  (high-level, plain English description of the problem; why it is important?) (1 slide)</a:t>
            </a:r>
          </a:p>
          <a:p>
            <a:pPr marL="0" indent="0">
              <a:lnSpc>
                <a:spcPct val="100000"/>
              </a:lnSpc>
              <a:buNone/>
            </a:pPr>
            <a:r>
              <a:rPr lang="en-US" sz="1200" dirty="0">
                <a:effectLst/>
                <a:latin typeface="Arial" panose="020B0604020202020204" pitchFamily="34" charset="0"/>
                <a:cs typeface="Arial" panose="020B0604020202020204" pitchFamily="34" charset="0"/>
              </a:rPr>
              <a:t>The goal of the project is to build a glucose prediction model that uses the fewest meaningful predictors to accurately predict glucose levels keeping prediction error low. In other words, we can examine the tradeoff between accuracy of prediction vs. sparsity (fewest predictors). A good model should have a sufficient balance that does not overfit the training data to the extent that test error is significantly worse (e.g., worse than random guess 50%). </a:t>
            </a:r>
          </a:p>
          <a:p>
            <a:pPr marL="0" indent="0">
              <a:lnSpc>
                <a:spcPct val="100000"/>
              </a:lnSpc>
              <a:buNone/>
            </a:pPr>
            <a:r>
              <a:rPr lang="en-US" sz="1200" dirty="0">
                <a:effectLst/>
                <a:latin typeface="Arial" panose="020B0604020202020204" pitchFamily="34" charset="0"/>
                <a:cs typeface="Arial" panose="020B0604020202020204" pitchFamily="34" charset="0"/>
              </a:rPr>
              <a:t>The value of our project is to provide alternative toolkits to medical professionals working with patients with diabetes to continuously monitor and understand expected ranges of blood sugar levels pre, and post meals and throughout the day. Accurate recording of blood glucose levels at predictable intervals throughout the day can help a patient and their health care provider achieve the best possible outcomes to managing patient health and ensuring risk of adverse events (e.g., hyperglycemia) are minimized. In addition, there is a predictive benefit to understanding the correlation of patient blood glucose levels with activity indicators in helping providers understand diabetes risk factors and estimated glucose levels for new patients. </a:t>
            </a:r>
          </a:p>
          <a:p>
            <a:pPr marL="0" indent="0">
              <a:lnSpc>
                <a:spcPct val="100000"/>
              </a:lnSpc>
              <a:buNone/>
            </a:pPr>
            <a:r>
              <a:rPr lang="en-US" sz="1200" dirty="0">
                <a:effectLst/>
                <a:latin typeface="Arial" panose="020B0604020202020204" pitchFamily="34" charset="0"/>
                <a:cs typeface="Arial" panose="020B0604020202020204" pitchFamily="34" charset="0"/>
              </a:rPr>
              <a:t>In summary, our project seeks to add a perspective to the health community in providing a way to pinpoint as accurately as possible the key potential drivers behind a particular patients glucose levels based on their recorded daily activity and inform patients distinguish helpful from unhelpful activities to managing blood glucose levels.</a:t>
            </a:r>
          </a:p>
          <a:p>
            <a:pPr marL="0" indent="0">
              <a:lnSpc>
                <a:spcPct val="100000"/>
              </a:lnSpc>
              <a:buNone/>
            </a:pPr>
            <a:endParaRPr lang="en-US" sz="120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414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9E8C4-DA61-50AC-17F3-2E82F43A74FA}"/>
              </a:ext>
            </a:extLst>
          </p:cNvPr>
          <p:cNvSpPr>
            <a:spLocks noGrp="1"/>
          </p:cNvSpPr>
          <p:nvPr>
            <p:ph type="title"/>
          </p:nvPr>
        </p:nvSpPr>
        <p:spPr>
          <a:xfrm>
            <a:off x="339436" y="143452"/>
            <a:ext cx="10515600" cy="844839"/>
          </a:xfrm>
        </p:spPr>
        <p:txBody>
          <a:bodyPr>
            <a:normAutofit/>
          </a:bodyPr>
          <a:lstStyle/>
          <a:p>
            <a:r>
              <a:rPr lang="en-US" sz="2000" dirty="0">
                <a:latin typeface="Arial" panose="020B0604020202020204" pitchFamily="34" charset="0"/>
                <a:cs typeface="Arial" panose="020B0604020202020204" pitchFamily="34" charset="0"/>
              </a:rPr>
              <a:t>4. Optimization Model</a:t>
            </a:r>
          </a:p>
        </p:txBody>
      </p:sp>
      <p:sp>
        <p:nvSpPr>
          <p:cNvPr id="3" name="Content Placeholder 2">
            <a:extLst>
              <a:ext uri="{FF2B5EF4-FFF2-40B4-BE49-F238E27FC236}">
                <a16:creationId xmlns:a16="http://schemas.microsoft.com/office/drawing/2014/main" id="{CD45F43A-DC89-B424-592D-75B06F6D90F5}"/>
              </a:ext>
            </a:extLst>
          </p:cNvPr>
          <p:cNvSpPr>
            <a:spLocks noGrp="1"/>
          </p:cNvSpPr>
          <p:nvPr>
            <p:ph idx="1"/>
          </p:nvPr>
        </p:nvSpPr>
        <p:spPr>
          <a:xfrm>
            <a:off x="339435" y="821244"/>
            <a:ext cx="11584709" cy="5893304"/>
          </a:xfrm>
        </p:spPr>
        <p:txBody>
          <a:bodyPr>
            <a:noAutofit/>
          </a:bodyPr>
          <a:lstStyle/>
          <a:p>
            <a:pPr marL="0" indent="0">
              <a:lnSpc>
                <a:spcPct val="100000"/>
              </a:lnSpc>
              <a:buNone/>
            </a:pPr>
            <a:r>
              <a:rPr lang="en-US" sz="1200" b="1" dirty="0">
                <a:effectLst/>
                <a:latin typeface="Arial" panose="020B0604020202020204" pitchFamily="34" charset="0"/>
                <a:cs typeface="Arial" panose="020B0604020202020204" pitchFamily="34" charset="0"/>
              </a:rPr>
              <a:t>Goal:  objective function, constraints; explain the rationale behind your model) (1 slide)</a:t>
            </a:r>
          </a:p>
          <a:p>
            <a:pPr marL="0" indent="0">
              <a:lnSpc>
                <a:spcPct val="100000"/>
              </a:lnSpc>
              <a:buNone/>
            </a:pPr>
            <a:r>
              <a:rPr lang="en-US" sz="1200" dirty="0">
                <a:effectLst/>
                <a:latin typeface="Arial" panose="020B0604020202020204" pitchFamily="34" charset="0"/>
                <a:cs typeface="Arial" panose="020B0604020202020204" pitchFamily="34" charset="0"/>
              </a:rPr>
              <a:t>As mentioned earlier, each team member formulated independently their own understanding of the objective function, each method converged within different bounds, offering the team an opportunity to evaluate the pros and cons of each method. </a:t>
            </a:r>
          </a:p>
          <a:p>
            <a:pPr marL="0" indent="0">
              <a:lnSpc>
                <a:spcPct val="100000"/>
              </a:lnSpc>
              <a:buNone/>
            </a:pPr>
            <a:r>
              <a:rPr lang="en-US" sz="1200" b="1" dirty="0">
                <a:effectLst/>
                <a:latin typeface="Arial" panose="020B0604020202020204" pitchFamily="34" charset="0"/>
                <a:cs typeface="Arial" panose="020B0604020202020204" pitchFamily="34" charset="0"/>
              </a:rPr>
              <a:t>Ahmad: </a:t>
            </a:r>
            <a:r>
              <a:rPr lang="en-US" sz="1200" dirty="0">
                <a:effectLst/>
                <a:latin typeface="Arial" panose="020B0604020202020204" pitchFamily="34" charset="0"/>
                <a:cs typeface="Arial" panose="020B0604020202020204" pitchFamily="34" charset="0"/>
              </a:rPr>
              <a:t>We predict a patients pre-meal glucose level using prior insulin, meal, exercise, and previous glucose levels, while selecting a spare set of predictors</a:t>
            </a:r>
          </a:p>
          <a:p>
            <a:pPr marL="0" indent="0">
              <a:lnSpc>
                <a:spcPct val="100000"/>
              </a:lnSpc>
              <a:buNone/>
            </a:pPr>
            <a:r>
              <a:rPr lang="en-US" sz="1200" dirty="0">
                <a:solidFill>
                  <a:srgbClr val="FF0000"/>
                </a:solidFill>
                <a:effectLst/>
                <a:latin typeface="Arial" panose="020B0604020202020204" pitchFamily="34" charset="0"/>
                <a:cs typeface="Arial" panose="020B0604020202020204" pitchFamily="34" charset="0"/>
              </a:rPr>
              <a:t>Write out his objective function in mathematical form</a:t>
            </a:r>
          </a:p>
          <a:p>
            <a:pPr marL="457200" lvl="1" indent="0">
              <a:lnSpc>
                <a:spcPct val="100000"/>
              </a:lnSpc>
              <a:buNone/>
            </a:pPr>
            <a:r>
              <a:rPr lang="en-US" sz="1200" dirty="0">
                <a:effectLst/>
                <a:latin typeface="Arial" panose="020B0604020202020204" pitchFamily="34" charset="0"/>
                <a:cs typeface="Arial" panose="020B0604020202020204" pitchFamily="34" charset="0"/>
              </a:rPr>
              <a:t># Variables And Definitions:</a:t>
            </a:r>
          </a:p>
          <a:p>
            <a:pPr marL="457200" lvl="1" indent="0">
              <a:lnSpc>
                <a:spcPct val="100000"/>
              </a:lnSpc>
              <a:buNone/>
            </a:pPr>
            <a:r>
              <a:rPr lang="en-US" sz="1200" dirty="0" err="1">
                <a:effectLst/>
                <a:latin typeface="Arial" panose="020B0604020202020204" pitchFamily="34" charset="0"/>
                <a:cs typeface="Arial" panose="020B0604020202020204" pitchFamily="34" charset="0"/>
              </a:rPr>
              <a:t>y_i</a:t>
            </a:r>
            <a:r>
              <a:rPr lang="en-US" sz="1200" dirty="0">
                <a:effectLst/>
                <a:latin typeface="Arial" panose="020B0604020202020204" pitchFamily="34" charset="0"/>
                <a:cs typeface="Arial" panose="020B0604020202020204" pitchFamily="34" charset="0"/>
              </a:rPr>
              <a:t>: glucose value for observation </a:t>
            </a:r>
            <a:r>
              <a:rPr lang="en-US" sz="1200" dirty="0" err="1">
                <a:effectLst/>
                <a:latin typeface="Arial" panose="020B0604020202020204" pitchFamily="34" charset="0"/>
                <a:cs typeface="Arial" panose="020B0604020202020204" pitchFamily="34" charset="0"/>
              </a:rPr>
              <a:t>i</a:t>
            </a:r>
            <a:endParaRPr lang="en-US" sz="1200" dirty="0">
              <a:effectLst/>
              <a:latin typeface="Arial" panose="020B0604020202020204" pitchFamily="34" charset="0"/>
              <a:cs typeface="Arial" panose="020B0604020202020204" pitchFamily="34" charset="0"/>
            </a:endParaRPr>
          </a:p>
          <a:p>
            <a:pPr marL="457200" lvl="1" indent="0">
              <a:lnSpc>
                <a:spcPct val="100000"/>
              </a:lnSpc>
              <a:buNone/>
            </a:pPr>
            <a:r>
              <a:rPr lang="en-US" sz="1200" dirty="0" err="1">
                <a:effectLst/>
                <a:latin typeface="Arial" panose="020B0604020202020204" pitchFamily="34" charset="0"/>
                <a:cs typeface="Arial" panose="020B0604020202020204" pitchFamily="34" charset="0"/>
              </a:rPr>
              <a:t>x_i</a:t>
            </a:r>
            <a:r>
              <a:rPr lang="en-US" sz="1200" dirty="0">
                <a:effectLst/>
                <a:latin typeface="Arial" panose="020B0604020202020204" pitchFamily="34" charset="0"/>
                <a:cs typeface="Arial" panose="020B0604020202020204" pitchFamily="34" charset="0"/>
              </a:rPr>
              <a:t>: feature vector for observation </a:t>
            </a:r>
            <a:r>
              <a:rPr lang="en-US" sz="1200" dirty="0" err="1">
                <a:effectLst/>
                <a:latin typeface="Arial" panose="020B0604020202020204" pitchFamily="34" charset="0"/>
                <a:cs typeface="Arial" panose="020B0604020202020204" pitchFamily="34" charset="0"/>
              </a:rPr>
              <a:t>i</a:t>
            </a:r>
            <a:endParaRPr lang="en-US" sz="1200" dirty="0">
              <a:effectLst/>
              <a:latin typeface="Arial" panose="020B0604020202020204" pitchFamily="34" charset="0"/>
              <a:cs typeface="Arial" panose="020B0604020202020204" pitchFamily="34" charset="0"/>
            </a:endParaRPr>
          </a:p>
          <a:p>
            <a:pPr marL="457200" lvl="1" indent="0">
              <a:lnSpc>
                <a:spcPct val="100000"/>
              </a:lnSpc>
              <a:buNone/>
            </a:pPr>
            <a:r>
              <a:rPr lang="en-US" sz="1200" dirty="0">
                <a:effectLst/>
                <a:latin typeface="Arial" panose="020B0604020202020204" pitchFamily="34" charset="0"/>
                <a:cs typeface="Arial" panose="020B0604020202020204" pitchFamily="34" charset="0"/>
              </a:rPr>
              <a:t>beta: model coefficients</a:t>
            </a:r>
          </a:p>
          <a:p>
            <a:pPr marL="457200" lvl="1" indent="0">
              <a:lnSpc>
                <a:spcPct val="100000"/>
              </a:lnSpc>
              <a:buNone/>
            </a:pPr>
            <a:r>
              <a:rPr lang="en-US" sz="1200" dirty="0" err="1">
                <a:effectLst/>
                <a:latin typeface="Arial" panose="020B0604020202020204" pitchFamily="34" charset="0"/>
                <a:cs typeface="Arial" panose="020B0604020202020204" pitchFamily="34" charset="0"/>
              </a:rPr>
              <a:t>z_j</a:t>
            </a:r>
            <a:r>
              <a:rPr lang="en-US" sz="1200" dirty="0">
                <a:effectLst/>
                <a:latin typeface="Arial" panose="020B0604020202020204" pitchFamily="34" charset="0"/>
                <a:cs typeface="Arial" panose="020B0604020202020204" pitchFamily="34" charset="0"/>
              </a:rPr>
              <a:t>: binary variable indicating whether feature j is selected</a:t>
            </a:r>
          </a:p>
          <a:p>
            <a:pPr marL="457200" lvl="1" indent="0">
              <a:lnSpc>
                <a:spcPct val="100000"/>
              </a:lnSpc>
              <a:buNone/>
            </a:pPr>
            <a:r>
              <a:rPr lang="en-US" sz="1200" dirty="0" err="1">
                <a:effectLst/>
                <a:latin typeface="Arial" panose="020B0604020202020204" pitchFamily="34" charset="0"/>
                <a:cs typeface="Arial" panose="020B0604020202020204" pitchFamily="34" charset="0"/>
              </a:rPr>
              <a:t>c_j</a:t>
            </a:r>
            <a:r>
              <a:rPr lang="en-US" sz="1200" dirty="0">
                <a:effectLst/>
                <a:latin typeface="Arial" panose="020B0604020202020204" pitchFamily="34" charset="0"/>
                <a:cs typeface="Arial" panose="020B0604020202020204" pitchFamily="34" charset="0"/>
              </a:rPr>
              <a:t>: cost or weight for selecting feature j</a:t>
            </a:r>
          </a:p>
          <a:p>
            <a:pPr marL="457200" lvl="1" indent="0">
              <a:lnSpc>
                <a:spcPct val="100000"/>
              </a:lnSpc>
              <a:buNone/>
            </a:pPr>
            <a:r>
              <a:rPr lang="en-US" sz="1200" dirty="0">
                <a:effectLst/>
                <a:latin typeface="Arial" panose="020B0604020202020204" pitchFamily="34" charset="0"/>
                <a:cs typeface="Arial" panose="020B0604020202020204" pitchFamily="34" charset="0"/>
              </a:rPr>
              <a:t>n: number of training observations</a:t>
            </a:r>
          </a:p>
          <a:p>
            <a:pPr marL="457200" lvl="1" indent="0">
              <a:lnSpc>
                <a:spcPct val="100000"/>
              </a:lnSpc>
              <a:buNone/>
            </a:pPr>
            <a:r>
              <a:rPr lang="en-US" sz="1200" dirty="0">
                <a:effectLst/>
                <a:latin typeface="Arial" panose="020B0604020202020204" pitchFamily="34" charset="0"/>
                <a:cs typeface="Arial" panose="020B0604020202020204" pitchFamily="34" charset="0"/>
              </a:rPr>
              <a:t>p: number of candidate features</a:t>
            </a:r>
          </a:p>
          <a:p>
            <a:pPr marL="457200" lvl="1" indent="0">
              <a:lnSpc>
                <a:spcPct val="100000"/>
              </a:lnSpc>
              <a:buNone/>
            </a:pPr>
            <a:r>
              <a:rPr lang="en-US" sz="1200" dirty="0">
                <a:effectLst/>
                <a:latin typeface="Arial" panose="020B0604020202020204" pitchFamily="34" charset="0"/>
                <a:cs typeface="Arial" panose="020B0604020202020204" pitchFamily="34" charset="0"/>
              </a:rPr>
              <a:t>tau: maximum acceptable prediction error</a:t>
            </a:r>
          </a:p>
          <a:p>
            <a:pPr marL="457200" lvl="1" indent="0">
              <a:lnSpc>
                <a:spcPct val="100000"/>
              </a:lnSpc>
              <a:buNone/>
            </a:pPr>
            <a:r>
              <a:rPr lang="en-US" sz="1200" dirty="0">
                <a:effectLst/>
                <a:latin typeface="Arial" panose="020B0604020202020204" pitchFamily="34" charset="0"/>
                <a:cs typeface="Arial" panose="020B0604020202020204" pitchFamily="34" charset="0"/>
              </a:rPr>
              <a:t>M: sufficiently large constant linking </a:t>
            </a:r>
            <a:r>
              <a:rPr lang="en-US" sz="1200" dirty="0" err="1">
                <a:effectLst/>
                <a:latin typeface="Arial" panose="020B0604020202020204" pitchFamily="34" charset="0"/>
                <a:cs typeface="Arial" panose="020B0604020202020204" pitchFamily="34" charset="0"/>
              </a:rPr>
              <a:t>beta_j</a:t>
            </a:r>
            <a:r>
              <a:rPr lang="en-US" sz="1200" dirty="0">
                <a:effectLst/>
                <a:latin typeface="Arial" panose="020B0604020202020204" pitchFamily="34" charset="0"/>
                <a:cs typeface="Arial" panose="020B0604020202020204" pitchFamily="34" charset="0"/>
              </a:rPr>
              <a:t> and </a:t>
            </a:r>
            <a:r>
              <a:rPr lang="en-US" sz="1200" dirty="0" err="1">
                <a:effectLst/>
                <a:latin typeface="Arial" panose="020B0604020202020204" pitchFamily="34" charset="0"/>
                <a:cs typeface="Arial" panose="020B0604020202020204" pitchFamily="34" charset="0"/>
              </a:rPr>
              <a:t>z_j</a:t>
            </a:r>
            <a:endParaRPr lang="en-US" sz="1200" dirty="0">
              <a:effectLst/>
              <a:latin typeface="Arial" panose="020B0604020202020204" pitchFamily="34" charset="0"/>
              <a:cs typeface="Arial" panose="020B0604020202020204" pitchFamily="34" charset="0"/>
            </a:endParaRPr>
          </a:p>
          <a:p>
            <a:pPr marL="457200" lvl="1" indent="0">
              <a:lnSpc>
                <a:spcPct val="100000"/>
              </a:lnSpc>
              <a:buNone/>
            </a:pPr>
            <a:r>
              <a:rPr lang="en-US" sz="1200" b="1" dirty="0">
                <a:effectLst/>
                <a:latin typeface="Arial" panose="020B0604020202020204" pitchFamily="34" charset="0"/>
                <a:cs typeface="Arial" panose="020B0604020202020204" pitchFamily="34" charset="0"/>
              </a:rPr>
              <a:t>You can say:</a:t>
            </a:r>
          </a:p>
          <a:p>
            <a:pPr marL="457200" lvl="1" indent="0">
              <a:lnSpc>
                <a:spcPct val="100000"/>
              </a:lnSpc>
              <a:buNone/>
            </a:pPr>
            <a:r>
              <a:rPr lang="en-US" sz="1200" b="1" dirty="0" err="1">
                <a:effectLst/>
                <a:latin typeface="Arial" panose="020B0604020202020204" pitchFamily="34" charset="0"/>
                <a:cs typeface="Arial" panose="020B0604020202020204" pitchFamily="34" charset="0"/>
              </a:rPr>
              <a:t>y_i</a:t>
            </a:r>
            <a:r>
              <a:rPr lang="en-US" sz="1200" b="1" dirty="0">
                <a:effectLst/>
                <a:latin typeface="Arial" panose="020B0604020202020204" pitchFamily="34" charset="0"/>
                <a:cs typeface="Arial" panose="020B0604020202020204" pitchFamily="34" charset="0"/>
              </a:rPr>
              <a:t> comes only from pre-meal glucose rows</a:t>
            </a:r>
          </a:p>
          <a:p>
            <a:pPr marL="457200" lvl="1" indent="0">
              <a:lnSpc>
                <a:spcPct val="100000"/>
              </a:lnSpc>
              <a:buNone/>
            </a:pPr>
            <a:r>
              <a:rPr lang="en-US" sz="1200" b="1" dirty="0" err="1">
                <a:effectLst/>
                <a:latin typeface="Arial" panose="020B0604020202020204" pitchFamily="34" charset="0"/>
                <a:cs typeface="Arial" panose="020B0604020202020204" pitchFamily="34" charset="0"/>
              </a:rPr>
              <a:t>x_i</a:t>
            </a:r>
            <a:r>
              <a:rPr lang="en-US" sz="1200" b="1" dirty="0">
                <a:effectLst/>
                <a:latin typeface="Arial" panose="020B0604020202020204" pitchFamily="34" charset="0"/>
                <a:cs typeface="Arial" panose="020B0604020202020204" pitchFamily="34" charset="0"/>
              </a:rPr>
              <a:t> may include previous glucose, insulin doses, meal indicators, exercise indicators, Day, </a:t>
            </a:r>
            <a:r>
              <a:rPr lang="en-US" sz="1200" b="1" dirty="0" err="1">
                <a:effectLst/>
                <a:latin typeface="Arial" panose="020B0604020202020204" pitchFamily="34" charset="0"/>
                <a:cs typeface="Arial" panose="020B0604020202020204" pitchFamily="34" charset="0"/>
              </a:rPr>
              <a:t>MinuteOfDay</a:t>
            </a:r>
            <a:r>
              <a:rPr lang="en-US" sz="1200" b="1" dirty="0">
                <a:effectLst/>
                <a:latin typeface="Arial" panose="020B0604020202020204" pitchFamily="34" charset="0"/>
                <a:cs typeface="Arial" panose="020B0604020202020204" pitchFamily="34" charset="0"/>
              </a:rPr>
              <a:t>, and lag features</a:t>
            </a:r>
          </a:p>
          <a:p>
            <a:pPr marL="0" indent="0">
              <a:lnSpc>
                <a:spcPct val="100000"/>
              </a:lnSpc>
              <a:buNone/>
            </a:pPr>
            <a:r>
              <a:rPr lang="en-US" sz="1200" b="1" dirty="0">
                <a:effectLst/>
                <a:latin typeface="Arial" panose="020B0604020202020204" pitchFamily="34" charset="0"/>
                <a:cs typeface="Arial" panose="020B0604020202020204" pitchFamily="34" charset="0"/>
              </a:rPr>
              <a:t>Chris:</a:t>
            </a:r>
            <a:r>
              <a:rPr lang="en-US" sz="1200" dirty="0">
                <a:effectLst/>
                <a:latin typeface="Arial" panose="020B0604020202020204" pitchFamily="34" charset="0"/>
                <a:cs typeface="Arial" panose="020B0604020202020204" pitchFamily="34" charset="0"/>
              </a:rPr>
              <a:t>  Defined a conventional least squares objective function, with additional L1 and L2 regularization penalty functions to increase sparsity and size of coefficients (prioritize features with greatest driver for minimizing prediction error), respectively.  Prediction error is defined as the predicted glucose level from the actual average glucose level of a patient, taken at a specific day based on a specific activity. </a:t>
            </a:r>
            <a:r>
              <a:rPr lang="en-US" sz="1200" dirty="0">
                <a:solidFill>
                  <a:srgbClr val="FF0000"/>
                </a:solidFill>
                <a:effectLst/>
                <a:latin typeface="Arial" panose="020B0604020202020204" pitchFamily="34" charset="0"/>
                <a:cs typeface="Arial" panose="020B0604020202020204" pitchFamily="34" charset="0"/>
              </a:rPr>
              <a:t>Can iterate and enhance this</a:t>
            </a:r>
            <a:endParaRPr lang="en-US" sz="1200" b="1" dirty="0">
              <a:solidFill>
                <a:srgbClr val="FF0000"/>
              </a:solidFill>
              <a:effectLst/>
              <a:latin typeface="Arial" panose="020B0604020202020204" pitchFamily="34" charset="0"/>
              <a:cs typeface="Arial" panose="020B0604020202020204" pitchFamily="34" charset="0"/>
            </a:endParaRPr>
          </a:p>
          <a:p>
            <a:pPr lvl="1">
              <a:lnSpc>
                <a:spcPct val="100000"/>
              </a:lnSpc>
            </a:pPr>
            <a:r>
              <a:rPr lang="en-US" sz="1200" dirty="0">
                <a:effectLst/>
                <a:latin typeface="Arial" panose="020B0604020202020204" pitchFamily="34" charset="0"/>
                <a:cs typeface="Arial" panose="020B0604020202020204" pitchFamily="34" charset="0"/>
              </a:rPr>
              <a:t>Reason: This was because we will ultimately run a regularized Linear Regression algorithm, which is sensitive to outliers.  Regularized least squares is robust to outliers in the underlying data, and can help identify the most impactful features in the model with the highest coefficients. </a:t>
            </a:r>
          </a:p>
          <a:p>
            <a:pPr lvl="1">
              <a:lnSpc>
                <a:spcPct val="100000"/>
              </a:lnSpc>
            </a:pPr>
            <a:r>
              <a:rPr lang="en-US" sz="1200" dirty="0">
                <a:effectLst/>
                <a:latin typeface="Arial" panose="020B0604020202020204" pitchFamily="34" charset="0"/>
                <a:cs typeface="Arial" panose="020B0604020202020204" pitchFamily="34" charset="0"/>
              </a:rPr>
              <a:t>Therefore, while there are no explicit constraints in the formulation of the objective function, the constraints are of the form </a:t>
            </a:r>
            <a:r>
              <a:rPr lang="en-US" sz="1200" dirty="0">
                <a:solidFill>
                  <a:srgbClr val="FF0000"/>
                </a:solidFill>
                <a:effectLst/>
                <a:latin typeface="Arial" panose="020B0604020202020204" pitchFamily="34" charset="0"/>
                <a:cs typeface="Arial" panose="020B0604020202020204" pitchFamily="34" charset="0"/>
              </a:rPr>
              <a:t>&lt;write the L1 and L2 constraints in matrix form&gt;</a:t>
            </a:r>
          </a:p>
        </p:txBody>
      </p:sp>
    </p:spTree>
    <p:extLst>
      <p:ext uri="{BB962C8B-B14F-4D97-AF65-F5344CB8AC3E}">
        <p14:creationId xmlns:p14="http://schemas.microsoft.com/office/powerpoint/2010/main" val="3800235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AB0ED-06A5-A4E2-720A-97F25A3D11DF}"/>
              </a:ext>
            </a:extLst>
          </p:cNvPr>
          <p:cNvSpPr>
            <a:spLocks noGrp="1"/>
          </p:cNvSpPr>
          <p:nvPr>
            <p:ph type="title"/>
          </p:nvPr>
        </p:nvSpPr>
        <p:spPr>
          <a:xfrm>
            <a:off x="441037" y="226141"/>
            <a:ext cx="10515600" cy="752475"/>
          </a:xfrm>
        </p:spPr>
        <p:txBody>
          <a:bodyPr>
            <a:normAutofit/>
          </a:bodyPr>
          <a:lstStyle/>
          <a:p>
            <a:r>
              <a:rPr lang="en-US" sz="2000" dirty="0">
                <a:latin typeface="Arial" panose="020B0604020202020204" pitchFamily="34" charset="0"/>
                <a:cs typeface="Arial" panose="020B0604020202020204" pitchFamily="34" charset="0"/>
              </a:rPr>
              <a:t>5. Proposed Solution</a:t>
            </a:r>
          </a:p>
        </p:txBody>
      </p:sp>
      <p:sp>
        <p:nvSpPr>
          <p:cNvPr id="3" name="Content Placeholder 2">
            <a:extLst>
              <a:ext uri="{FF2B5EF4-FFF2-40B4-BE49-F238E27FC236}">
                <a16:creationId xmlns:a16="http://schemas.microsoft.com/office/drawing/2014/main" id="{DBFFCB03-BEDD-F31B-BA91-EBFF9842FDED}"/>
              </a:ext>
            </a:extLst>
          </p:cNvPr>
          <p:cNvSpPr>
            <a:spLocks noGrp="1"/>
          </p:cNvSpPr>
          <p:nvPr>
            <p:ph idx="1"/>
          </p:nvPr>
        </p:nvSpPr>
        <p:spPr>
          <a:xfrm>
            <a:off x="441037" y="1031296"/>
            <a:ext cx="11427690" cy="5217104"/>
          </a:xfrm>
        </p:spPr>
        <p:txBody>
          <a:bodyPr>
            <a:noAutofit/>
          </a:bodyPr>
          <a:lstStyle/>
          <a:p>
            <a:pPr marL="0" indent="0">
              <a:lnSpc>
                <a:spcPct val="100000"/>
              </a:lnSpc>
              <a:buNone/>
            </a:pPr>
            <a:r>
              <a:rPr lang="en-US" sz="1200" b="1" dirty="0">
                <a:effectLst/>
                <a:latin typeface="Arial" panose="020B0604020202020204" pitchFamily="34" charset="0"/>
                <a:cs typeface="Arial" panose="020B0604020202020204" pitchFamily="34" charset="0"/>
              </a:rPr>
              <a:t>Goal:  is it convex/non-convex?; what is the feasible set?; why did you conclude that a solution may exist; closed-form solution; numerical solution using a toolbox, etc.) (Max 5 slide)</a:t>
            </a:r>
            <a:r>
              <a:rPr lang="en-US" sz="1200" dirty="0">
                <a:effectLst/>
                <a:latin typeface="Arial" panose="020B0604020202020204" pitchFamily="34" charset="0"/>
                <a:cs typeface="Arial" panose="020B0604020202020204" pitchFamily="34" charset="0"/>
              </a:rPr>
              <a:t> </a:t>
            </a:r>
          </a:p>
          <a:p>
            <a:pPr marL="0" indent="0">
              <a:lnSpc>
                <a:spcPct val="100000"/>
              </a:lnSpc>
              <a:buNone/>
            </a:pPr>
            <a:r>
              <a:rPr lang="en-US" sz="1200" b="1" dirty="0">
                <a:solidFill>
                  <a:srgbClr val="FF0000"/>
                </a:solidFill>
                <a:effectLst/>
                <a:latin typeface="Arial" panose="020B0604020202020204" pitchFamily="34" charset="0"/>
                <a:cs typeface="Arial" panose="020B0604020202020204" pitchFamily="34" charset="0"/>
              </a:rPr>
              <a:t>Ahmad: list </a:t>
            </a:r>
          </a:p>
          <a:p>
            <a:pPr marL="0" indent="0">
              <a:lnSpc>
                <a:spcPct val="100000"/>
              </a:lnSpc>
              <a:buNone/>
            </a:pPr>
            <a:endParaRPr lang="en-US" sz="1200" dirty="0">
              <a:effectLst/>
              <a:latin typeface="Arial" panose="020B0604020202020204" pitchFamily="34" charset="0"/>
              <a:cs typeface="Arial" panose="020B0604020202020204" pitchFamily="34" charset="0"/>
            </a:endParaRPr>
          </a:p>
          <a:p>
            <a:pPr marL="0" indent="0">
              <a:lnSpc>
                <a:spcPct val="100000"/>
              </a:lnSpc>
              <a:buNone/>
            </a:pPr>
            <a:r>
              <a:rPr lang="en-US" sz="1200" b="1" dirty="0">
                <a:effectLst/>
                <a:latin typeface="Arial" panose="020B0604020202020204" pitchFamily="34" charset="0"/>
                <a:cs typeface="Arial" panose="020B0604020202020204" pitchFamily="34" charset="0"/>
              </a:rPr>
              <a:t>Chris:</a:t>
            </a:r>
            <a:r>
              <a:rPr lang="en-US" sz="1200" dirty="0">
                <a:effectLst/>
                <a:latin typeface="Arial" panose="020B0604020202020204" pitchFamily="34" charset="0"/>
                <a:cs typeface="Arial" panose="020B0604020202020204" pitchFamily="34" charset="0"/>
              </a:rPr>
              <a:t> Least squares is convex and the feasible set is based on the data, which in our case an activity indicator is a real number greater than or equal to 0. Since our objective function is MSE, our cost is bounded below by 0 and unbounded above (i.e., infinity cost). Since least squares is quadratic, we have a clear minimum, therefore, with a sufficient initial guess and step size, our algorithm is guaranteed to converge. We do not have a closed form solution to predicting glucose level, therefore, our solution will be a numerical solution using regularized least squares regression. We aim to achieve a best fit surface but not perfect accuracy to minimize total error while maintaining sparsity (parsimonious) and out-of-sample prediction power. (i.e., achieve close enough estimation on future unseen patient activity data). </a:t>
            </a:r>
          </a:p>
          <a:p>
            <a:pPr marL="0" indent="0">
              <a:lnSpc>
                <a:spcPct val="100000"/>
              </a:lnSpc>
              <a:buNone/>
            </a:pPr>
            <a:endParaRPr lang="en-US" sz="120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5956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D3D40-F1E2-CE9D-CDE2-10B85C3A617F}"/>
              </a:ext>
            </a:extLst>
          </p:cNvPr>
          <p:cNvSpPr>
            <a:spLocks noGrp="1"/>
          </p:cNvSpPr>
          <p:nvPr>
            <p:ph type="title"/>
          </p:nvPr>
        </p:nvSpPr>
        <p:spPr>
          <a:xfrm>
            <a:off x="191653" y="97272"/>
            <a:ext cx="11778673" cy="583766"/>
          </a:xfrm>
        </p:spPr>
        <p:txBody>
          <a:bodyPr>
            <a:normAutofit/>
          </a:bodyPr>
          <a:lstStyle/>
          <a:p>
            <a:r>
              <a:rPr lang="en-US" sz="2000" dirty="0"/>
              <a:t>Validating Solution:</a:t>
            </a:r>
            <a:endParaRPr lang="en-US" sz="2000" dirty="0">
              <a:solidFill>
                <a:srgbClr val="FF0000"/>
              </a:solidFill>
            </a:endParaRPr>
          </a:p>
        </p:txBody>
      </p:sp>
      <p:sp>
        <p:nvSpPr>
          <p:cNvPr id="3" name="Content Placeholder 2">
            <a:extLst>
              <a:ext uri="{FF2B5EF4-FFF2-40B4-BE49-F238E27FC236}">
                <a16:creationId xmlns:a16="http://schemas.microsoft.com/office/drawing/2014/main" id="{1D9F66B1-31A3-3A93-8F36-4D5BA756F192}"/>
              </a:ext>
            </a:extLst>
          </p:cNvPr>
          <p:cNvSpPr>
            <a:spLocks noGrp="1"/>
          </p:cNvSpPr>
          <p:nvPr>
            <p:ph idx="1"/>
          </p:nvPr>
        </p:nvSpPr>
        <p:spPr>
          <a:xfrm>
            <a:off x="191652" y="674359"/>
            <a:ext cx="11778673" cy="6086369"/>
          </a:xfrm>
        </p:spPr>
        <p:txBody>
          <a:bodyPr>
            <a:noAutofit/>
          </a:bodyPr>
          <a:lstStyle/>
          <a:p>
            <a:pPr marL="0" indent="0">
              <a:lnSpc>
                <a:spcPct val="100000"/>
              </a:lnSpc>
              <a:buNone/>
            </a:pPr>
            <a:r>
              <a:rPr lang="en-US" sz="1200" b="1" dirty="0">
                <a:latin typeface="Arial" panose="020B0604020202020204" pitchFamily="34" charset="0"/>
                <a:cs typeface="Arial" panose="020B0604020202020204" pitchFamily="34" charset="0"/>
              </a:rPr>
              <a:t>Prompt:  </a:t>
            </a:r>
            <a:r>
              <a:rPr lang="en-US" sz="1200" dirty="0">
                <a:latin typeface="Arial" panose="020B0604020202020204" pitchFamily="34" charset="0"/>
                <a:cs typeface="Arial" panose="020B0604020202020204" pitchFamily="34" charset="0"/>
              </a:rPr>
              <a:t>How did you test your solution is valid, e.g., what dataset was used, simulation details, theoretical analysis, what problems you faced, how did you overcome them? etc. </a:t>
            </a:r>
            <a:r>
              <a:rPr lang="en-US" sz="1200" b="1" dirty="0">
                <a:latin typeface="Arial" panose="020B0604020202020204" pitchFamily="34" charset="0"/>
                <a:cs typeface="Arial" panose="020B0604020202020204" pitchFamily="34" charset="0"/>
              </a:rPr>
              <a:t>(max 5 slides)</a:t>
            </a:r>
            <a:endParaRPr lang="en-US" sz="1200" dirty="0">
              <a:effectLst/>
              <a:latin typeface="Arial" panose="020B0604020202020204" pitchFamily="34" charset="0"/>
              <a:cs typeface="Arial" panose="020B0604020202020204" pitchFamily="34" charset="0"/>
            </a:endParaRPr>
          </a:p>
          <a:p>
            <a:pPr marL="0" indent="0">
              <a:lnSpc>
                <a:spcPct val="100000"/>
              </a:lnSpc>
              <a:buNone/>
            </a:pPr>
            <a:r>
              <a:rPr lang="en-US" sz="1200" dirty="0">
                <a:effectLst/>
                <a:latin typeface="Arial" panose="020B0604020202020204" pitchFamily="34" charset="0"/>
                <a:cs typeface="Arial" panose="020B0604020202020204" pitchFamily="34" charset="0"/>
              </a:rPr>
              <a:t>We acquired the dataset from the UC Irvine Machine Learning Repository at the link here, </a:t>
            </a:r>
            <a:r>
              <a:rPr lang="en-US" sz="1200" dirty="0">
                <a:latin typeface="Arial" panose="020B0604020202020204" pitchFamily="34" charset="0"/>
                <a:cs typeface="Arial" panose="020B0604020202020204" pitchFamily="34" charset="0"/>
                <a:hlinkClick r:id="rId2"/>
              </a:rPr>
              <a:t>https://archive.ics.uci.edu/dataset/34/diabetes</a:t>
            </a:r>
            <a:r>
              <a:rPr lang="en-US" sz="1200" dirty="0">
                <a:latin typeface="Arial" panose="020B0604020202020204" pitchFamily="34" charset="0"/>
                <a:cs typeface="Arial" panose="020B0604020202020204" pitchFamily="34" charset="0"/>
              </a:rPr>
              <a:t>. This was an open-source dataset provided for initial use for academic researchers and medical professionals, and made public to students or practitioners of machine learning for academic or personal project use. </a:t>
            </a:r>
          </a:p>
          <a:p>
            <a:pPr marL="0" indent="0">
              <a:lnSpc>
                <a:spcPct val="100000"/>
              </a:lnSpc>
              <a:buNone/>
            </a:pPr>
            <a:r>
              <a:rPr lang="en-US" sz="1200" dirty="0">
                <a:latin typeface="Arial" panose="020B0604020202020204" pitchFamily="34" charset="0"/>
                <a:cs typeface="Arial" panose="020B0604020202020204" pitchFamily="34" charset="0"/>
              </a:rPr>
              <a:t>The data set was compiled in 1994 for the AI in Medicine Symposium (i.e., AAAI Spring Symposium on Interpreting Clinical Data). We credit Isaac  Kohane, AIM-94 Co-Chair 8/27/1993 who provided a high-level business synopsis of the data set for non-medical professionals. The author of the data set is Michael Kahn, MD, PhD, Washington University, St. Louis, MO). The data contains details on basic physiology and </a:t>
            </a:r>
            <a:r>
              <a:rPr lang="en-US" sz="1200" dirty="0" err="1">
                <a:latin typeface="Arial" panose="020B0604020202020204" pitchFamily="34" charset="0"/>
                <a:cs typeface="Arial" panose="020B0604020202020204" pitchFamily="34" charset="0"/>
              </a:rPr>
              <a:t>patho</a:t>
            </a:r>
            <a:r>
              <a:rPr lang="en-US" sz="1200" dirty="0">
                <a:latin typeface="Arial" panose="020B0604020202020204" pitchFamily="34" charset="0"/>
                <a:cs typeface="Arial" panose="020B0604020202020204" pitchFamily="34" charset="0"/>
              </a:rPr>
              <a:t>-physiology of diabetes mellitus and its treatment. The dataset is composed of 70 diabetes patient records collected from electronic and paper records. Patients are indexed by 1-70. Each patient has several weeks' to months' worth of outpatient care data. </a:t>
            </a:r>
          </a:p>
          <a:p>
            <a:pPr marL="0" indent="0">
              <a:lnSpc>
                <a:spcPct val="100000"/>
              </a:lnSpc>
              <a:buNone/>
            </a:pPr>
            <a:r>
              <a:rPr lang="en-US" sz="1200" dirty="0">
                <a:latin typeface="Arial" panose="020B0604020202020204" pitchFamily="34" charset="0"/>
                <a:cs typeface="Arial" panose="020B0604020202020204" pitchFamily="34" charset="0"/>
              </a:rPr>
              <a:t>The data is organized in tabular format, by patient and recording type. Patients typically have multiple recordings (i.e., code and their values) per day. Electronic recordings are timestamped at regular intervals with more </a:t>
            </a:r>
            <a:r>
              <a:rPr lang="en-US" sz="1200" dirty="0" err="1">
                <a:latin typeface="Arial" panose="020B0604020202020204" pitchFamily="34" charset="0"/>
                <a:cs typeface="Arial" panose="020B0604020202020204" pitchFamily="34" charset="0"/>
              </a:rPr>
              <a:t>adhoc</a:t>
            </a:r>
            <a:r>
              <a:rPr lang="en-US" sz="1200" dirty="0">
                <a:latin typeface="Arial" panose="020B0604020202020204" pitchFamily="34" charset="0"/>
                <a:cs typeface="Arial" panose="020B0604020202020204" pitchFamily="34" charset="0"/>
              </a:rPr>
              <a:t> recordings reflecting manual recordings (breakfast, lunch, dinner, bedtime). The raw data consists of patient data, one patient per CSV file, which are all zipped into a compressed format. Each patient (CSV file) has four features, each feature is tab-delimited. The feature names are: </a:t>
            </a:r>
          </a:p>
          <a:p>
            <a:pPr lvl="1">
              <a:lnSpc>
                <a:spcPct val="100000"/>
              </a:lnSpc>
            </a:pPr>
            <a:r>
              <a:rPr lang="en-US" sz="1200" dirty="0">
                <a:latin typeface="Arial" panose="020B0604020202020204" pitchFamily="34" charset="0"/>
                <a:cs typeface="Arial" panose="020B0604020202020204" pitchFamily="34" charset="0"/>
              </a:rPr>
              <a:t>Data-Codes (‘Code’): a listing of the codes used in the data sets.</a:t>
            </a:r>
          </a:p>
          <a:p>
            <a:pPr lvl="1">
              <a:lnSpc>
                <a:spcPct val="100000"/>
              </a:lnSpc>
            </a:pPr>
            <a:r>
              <a:rPr lang="en-US" sz="1200" dirty="0">
                <a:latin typeface="Arial" panose="020B0604020202020204" pitchFamily="34" charset="0"/>
                <a:cs typeface="Arial" panose="020B0604020202020204" pitchFamily="34" charset="0"/>
              </a:rPr>
              <a:t>Date in MM-DD-YYYY format: i.e., date of recording </a:t>
            </a:r>
          </a:p>
          <a:p>
            <a:pPr lvl="1">
              <a:lnSpc>
                <a:spcPct val="100000"/>
              </a:lnSpc>
            </a:pPr>
            <a:r>
              <a:rPr lang="en-US" sz="1200" dirty="0">
                <a:latin typeface="Arial" panose="020B0604020202020204" pitchFamily="34" charset="0"/>
                <a:cs typeface="Arial" panose="020B0604020202020204" pitchFamily="34" charset="0"/>
              </a:rPr>
              <a:t>Time in XX:YY format: i.e., time of recording </a:t>
            </a:r>
          </a:p>
          <a:p>
            <a:pPr lvl="1">
              <a:lnSpc>
                <a:spcPct val="100000"/>
              </a:lnSpc>
            </a:pPr>
            <a:r>
              <a:rPr lang="en-US" sz="1200" dirty="0">
                <a:latin typeface="Arial" panose="020B0604020202020204" pitchFamily="34" charset="0"/>
                <a:cs typeface="Arial" panose="020B0604020202020204" pitchFamily="34" charset="0"/>
              </a:rPr>
              <a:t>Value: i.e., blood glucose level </a:t>
            </a:r>
          </a:p>
          <a:p>
            <a:pPr marL="0" indent="0">
              <a:lnSpc>
                <a:spcPct val="100000"/>
              </a:lnSpc>
              <a:buNone/>
            </a:pPr>
            <a:r>
              <a:rPr lang="en-US" sz="1200" dirty="0">
                <a:latin typeface="Arial" panose="020B0604020202020204" pitchFamily="34" charset="0"/>
                <a:cs typeface="Arial" panose="020B0604020202020204" pitchFamily="34" charset="0"/>
              </a:rPr>
              <a:t>Codes will be the main set of features we will use in our optimization problem approaches, as our goal is to predict glucose levels with respect to the key codes. </a:t>
            </a:r>
          </a:p>
          <a:p>
            <a:pPr marL="0" indent="0">
              <a:lnSpc>
                <a:spcPct val="100000"/>
              </a:lnSpc>
              <a:buNone/>
            </a:pPr>
            <a:r>
              <a:rPr lang="en-US" sz="1200" dirty="0">
                <a:latin typeface="Arial" panose="020B0604020202020204" pitchFamily="34" charset="0"/>
                <a:cs typeface="Arial" panose="020B0604020202020204" pitchFamily="34" charset="0"/>
              </a:rPr>
              <a:t>Several key features are defined below: </a:t>
            </a:r>
          </a:p>
          <a:p>
            <a:pPr>
              <a:lnSpc>
                <a:spcPct val="100000"/>
              </a:lnSpc>
            </a:pPr>
            <a:r>
              <a:rPr lang="en-US" sz="1200" dirty="0">
                <a:latin typeface="Arial" panose="020B0604020202020204" pitchFamily="34" charset="0"/>
                <a:cs typeface="Arial" panose="020B0604020202020204" pitchFamily="34" charset="0"/>
              </a:rPr>
              <a:t>33 = Regular insulin dose - short-acting insulin (works soon after injection, often around meals)</a:t>
            </a:r>
          </a:p>
          <a:p>
            <a:pPr>
              <a:lnSpc>
                <a:spcPct val="100000"/>
              </a:lnSpc>
            </a:pPr>
            <a:r>
              <a:rPr lang="en-US" sz="1200" dirty="0">
                <a:latin typeface="Arial" panose="020B0604020202020204" pitchFamily="34" charset="0"/>
                <a:cs typeface="Arial" panose="020B0604020202020204" pitchFamily="34" charset="0"/>
              </a:rPr>
              <a:t>34 = NPH insulin dose - intermediate-acting insulin (lasts longer than regular, and is used for background insulin plan)</a:t>
            </a:r>
          </a:p>
          <a:p>
            <a:pPr>
              <a:lnSpc>
                <a:spcPct val="100000"/>
              </a:lnSpc>
            </a:pPr>
            <a:r>
              <a:rPr lang="en-US" sz="1200" dirty="0">
                <a:latin typeface="Arial" panose="020B0604020202020204" pitchFamily="34" charset="0"/>
                <a:cs typeface="Arial" panose="020B0604020202020204" pitchFamily="34" charset="0"/>
              </a:rPr>
              <a:t>35 = </a:t>
            </a:r>
            <a:r>
              <a:rPr lang="en-US" sz="1200" dirty="0" err="1">
                <a:latin typeface="Arial" panose="020B0604020202020204" pitchFamily="34" charset="0"/>
                <a:cs typeface="Arial" panose="020B0604020202020204" pitchFamily="34" charset="0"/>
              </a:rPr>
              <a:t>UltraLente</a:t>
            </a:r>
            <a:r>
              <a:rPr lang="en-US" sz="1200" dirty="0">
                <a:latin typeface="Arial" panose="020B0604020202020204" pitchFamily="34" charset="0"/>
                <a:cs typeface="Arial" panose="020B0604020202020204" pitchFamily="34" charset="0"/>
              </a:rPr>
              <a:t> insulin dose - Long-acting insulin (Different role than regular insulin, as its not for immediate spikes)</a:t>
            </a:r>
          </a:p>
          <a:p>
            <a:pPr>
              <a:lnSpc>
                <a:spcPct val="100000"/>
              </a:lnSpc>
            </a:pPr>
            <a:r>
              <a:rPr lang="en-US" sz="1200" dirty="0">
                <a:latin typeface="Arial" panose="020B0604020202020204" pitchFamily="34" charset="0"/>
                <a:cs typeface="Arial" panose="020B0604020202020204" pitchFamily="34" charset="0"/>
              </a:rPr>
              <a:t>48, 57 = Unspecified blood glucose measurement - Glucose was measured, but not tied to meal context</a:t>
            </a:r>
          </a:p>
        </p:txBody>
      </p:sp>
    </p:spTree>
    <p:extLst>
      <p:ext uri="{BB962C8B-B14F-4D97-AF65-F5344CB8AC3E}">
        <p14:creationId xmlns:p14="http://schemas.microsoft.com/office/powerpoint/2010/main" val="295769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BA8AB-A93A-E593-7134-B0CADCD5C1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DAD43B-7527-6611-D3DC-C702658CA295}"/>
              </a:ext>
            </a:extLst>
          </p:cNvPr>
          <p:cNvSpPr>
            <a:spLocks noGrp="1"/>
          </p:cNvSpPr>
          <p:nvPr>
            <p:ph type="title"/>
          </p:nvPr>
        </p:nvSpPr>
        <p:spPr>
          <a:xfrm>
            <a:off x="191653" y="97272"/>
            <a:ext cx="11778673" cy="583766"/>
          </a:xfrm>
        </p:spPr>
        <p:txBody>
          <a:bodyPr>
            <a:normAutofit/>
          </a:bodyPr>
          <a:lstStyle/>
          <a:p>
            <a:r>
              <a:rPr lang="en-US" sz="2000" dirty="0"/>
              <a:t>Validating Solution:</a:t>
            </a:r>
            <a:endParaRPr lang="en-US" sz="2000" dirty="0">
              <a:solidFill>
                <a:srgbClr val="FF0000"/>
              </a:solidFill>
            </a:endParaRPr>
          </a:p>
        </p:txBody>
      </p:sp>
      <p:sp>
        <p:nvSpPr>
          <p:cNvPr id="3" name="Content Placeholder 2">
            <a:extLst>
              <a:ext uri="{FF2B5EF4-FFF2-40B4-BE49-F238E27FC236}">
                <a16:creationId xmlns:a16="http://schemas.microsoft.com/office/drawing/2014/main" id="{818CDA7B-EC9C-5086-57FE-14E9FDE3FE9A}"/>
              </a:ext>
            </a:extLst>
          </p:cNvPr>
          <p:cNvSpPr>
            <a:spLocks noGrp="1"/>
          </p:cNvSpPr>
          <p:nvPr>
            <p:ph idx="1"/>
          </p:nvPr>
        </p:nvSpPr>
        <p:spPr>
          <a:xfrm>
            <a:off x="191652" y="772679"/>
            <a:ext cx="11778673" cy="5895975"/>
          </a:xfrm>
        </p:spPr>
        <p:txBody>
          <a:bodyPr>
            <a:noAutofit/>
          </a:bodyPr>
          <a:lstStyle/>
          <a:p>
            <a:pPr marL="0" indent="0">
              <a:lnSpc>
                <a:spcPct val="100000"/>
              </a:lnSpc>
              <a:buNone/>
            </a:pPr>
            <a:r>
              <a:rPr lang="en-US" sz="1200" dirty="0">
                <a:latin typeface="Arial" panose="020B0604020202020204" pitchFamily="34" charset="0"/>
                <a:cs typeface="Arial" panose="020B0604020202020204" pitchFamily="34" charset="0"/>
              </a:rPr>
              <a:t>In order to begin our project, we extracted the data from the compressed zip file using python’s various data compression and data analysis libraries, and produced CSV format files for each patient. Then, we aggregated the patients data into one file. </a:t>
            </a:r>
          </a:p>
          <a:p>
            <a:pPr marL="0" indent="0">
              <a:lnSpc>
                <a:spcPct val="100000"/>
              </a:lnSpc>
              <a:buNone/>
            </a:pPr>
            <a:r>
              <a:rPr lang="en-US" sz="1200" b="1" dirty="0">
                <a:effectLst/>
                <a:latin typeface="Arial" panose="020B0604020202020204" pitchFamily="34" charset="0"/>
                <a:cs typeface="Arial" panose="020B0604020202020204" pitchFamily="34" charset="0"/>
              </a:rPr>
              <a:t>Data Transformations: </a:t>
            </a:r>
            <a:r>
              <a:rPr lang="en-US" sz="1200" dirty="0">
                <a:effectLst/>
                <a:latin typeface="Arial" panose="020B0604020202020204" pitchFamily="34" charset="0"/>
                <a:cs typeface="Arial" panose="020B0604020202020204" pitchFamily="34" charset="0"/>
              </a:rPr>
              <a:t>Because our data set is in “narrow” format and not in the traditional machine-learning ready format (“wide”) where we have one observation per row = 1 patient per 1 day and codes (events) not as individual columns, we need to conduct several processing transformations before we can split our data. To resolve this issue, we unstacked the ‘Code’ column (where we have multiple rows per patient and day with multiple rows (codes)) into ‘wide’ format where we have Codes as columns and distinct patient-timestamp rows. </a:t>
            </a:r>
            <a:r>
              <a:rPr lang="en-US" sz="1200" dirty="0">
                <a:solidFill>
                  <a:srgbClr val="FF0000"/>
                </a:solidFill>
                <a:effectLst/>
                <a:latin typeface="Arial" panose="020B0604020202020204" pitchFamily="34" charset="0"/>
                <a:cs typeface="Arial" panose="020B0604020202020204" pitchFamily="34" charset="0"/>
              </a:rPr>
              <a:t>CO includes a </a:t>
            </a:r>
            <a:r>
              <a:rPr lang="en-US" sz="1200" dirty="0">
                <a:solidFill>
                  <a:srgbClr val="FF0000"/>
                </a:solidFill>
                <a:latin typeface="Arial" panose="020B0604020202020204" pitchFamily="34" charset="0"/>
                <a:cs typeface="Arial" panose="020B0604020202020204" pitchFamily="34" charset="0"/>
              </a:rPr>
              <a:t>PATIENT_ID (1,…,70) column as an identifier. </a:t>
            </a:r>
            <a:r>
              <a:rPr lang="en-US" sz="1200" dirty="0">
                <a:latin typeface="Arial" panose="020B0604020202020204" pitchFamily="34" charset="0"/>
                <a:cs typeface="Arial" panose="020B0604020202020204" pitchFamily="34" charset="0"/>
              </a:rPr>
              <a:t>Data will be indexed by date and patient. </a:t>
            </a:r>
          </a:p>
          <a:p>
            <a:pPr marL="0" indent="0">
              <a:lnSpc>
                <a:spcPct val="100000"/>
              </a:lnSpc>
              <a:buNone/>
            </a:pPr>
            <a:r>
              <a:rPr lang="en-US" sz="1200" b="1" dirty="0">
                <a:effectLst/>
                <a:latin typeface="Arial" panose="020B0604020202020204" pitchFamily="34" charset="0"/>
                <a:cs typeface="Arial" panose="020B0604020202020204" pitchFamily="34" charset="0"/>
              </a:rPr>
              <a:t>Target definition: </a:t>
            </a:r>
            <a:r>
              <a:rPr lang="en-US" sz="1200" dirty="0">
                <a:effectLst/>
                <a:latin typeface="Arial" panose="020B0604020202020204" pitchFamily="34" charset="0"/>
                <a:cs typeface="Arial" panose="020B0604020202020204" pitchFamily="34" charset="0"/>
              </a:rPr>
              <a:t>The key step prior to running our optimization problems is to define our target variable. At the start of our project, we discussed the goal being to identify the most relevant predictors (ideally, as few as possible to achieve sufficient accuracy to predict glucose levels). However, we each explored separate alternative solutions to attempt to achieve our goal. </a:t>
            </a:r>
          </a:p>
          <a:p>
            <a:pPr marL="0" indent="0">
              <a:lnSpc>
                <a:spcPct val="100000"/>
              </a:lnSpc>
              <a:buNone/>
            </a:pPr>
            <a:endParaRPr lang="en-US" sz="1200" dirty="0">
              <a:effectLst/>
              <a:latin typeface="Arial" panose="020B0604020202020204" pitchFamily="34" charset="0"/>
              <a:cs typeface="Arial" panose="020B0604020202020204" pitchFamily="34" charset="0"/>
            </a:endParaRPr>
          </a:p>
          <a:p>
            <a:pPr marL="0" indent="0">
              <a:lnSpc>
                <a:spcPct val="100000"/>
              </a:lnSpc>
              <a:buNone/>
            </a:pPr>
            <a:r>
              <a:rPr lang="en-US" sz="1200" dirty="0">
                <a:effectLst/>
                <a:latin typeface="Arial" panose="020B0604020202020204" pitchFamily="34" charset="0"/>
                <a:cs typeface="Arial" panose="020B0604020202020204" pitchFamily="34" charset="0"/>
              </a:rPr>
              <a:t>Therefore, we refine our  target objective per our distinct approaches: </a:t>
            </a:r>
          </a:p>
          <a:p>
            <a:pPr>
              <a:lnSpc>
                <a:spcPct val="100000"/>
              </a:lnSpc>
            </a:pPr>
            <a:r>
              <a:rPr lang="en-US" sz="1200" dirty="0">
                <a:effectLst/>
                <a:latin typeface="Arial" panose="020B0604020202020204" pitchFamily="34" charset="0"/>
                <a:cs typeface="Arial" panose="020B0604020202020204" pitchFamily="34" charset="0"/>
              </a:rPr>
              <a:t>Ahmad: the average of the pre-glucose measurement values </a:t>
            </a:r>
          </a:p>
          <a:p>
            <a:pPr>
              <a:lnSpc>
                <a:spcPct val="100000"/>
              </a:lnSpc>
            </a:pPr>
            <a:r>
              <a:rPr lang="en-US" sz="1200" dirty="0">
                <a:effectLst/>
                <a:latin typeface="Arial" panose="020B0604020202020204" pitchFamily="34" charset="0"/>
                <a:cs typeface="Arial" panose="020B0604020202020204" pitchFamily="34" charset="0"/>
              </a:rPr>
              <a:t>Chris: the average of the pre-glucose and post-glucose measurement values (we acknowledge this may induce artificial smoothing, however, may also yield a better out-of-sample prediction as we know we are not seeking to achieve 100% accuracy but ‘good enough’ result. These codes are ['58', '59', '60', '61', '62', '63’]. Then, Chris lags the average variable to create a forward-looking target which will induce a predictive tilt to the problem (rather than simply assessing static correlations). Lastly, drop any NA lagged values (i.e., first row). </a:t>
            </a:r>
            <a:r>
              <a:rPr lang="en-US" sz="1200" dirty="0">
                <a:solidFill>
                  <a:srgbClr val="FF0000"/>
                </a:solidFill>
                <a:effectLst/>
                <a:latin typeface="Arial" panose="020B0604020202020204" pitchFamily="34" charset="0"/>
                <a:cs typeface="Arial" panose="020B0604020202020204" pitchFamily="34" charset="0"/>
              </a:rPr>
              <a:t>I’m also not taking into account potential for gap days. </a:t>
            </a:r>
          </a:p>
        </p:txBody>
      </p:sp>
    </p:spTree>
    <p:extLst>
      <p:ext uri="{BB962C8B-B14F-4D97-AF65-F5344CB8AC3E}">
        <p14:creationId xmlns:p14="http://schemas.microsoft.com/office/powerpoint/2010/main" val="547395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C4B2C-5749-DDC8-DE60-1C5282E257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C357F5-18BA-B826-6F6D-F5680716EE3D}"/>
              </a:ext>
            </a:extLst>
          </p:cNvPr>
          <p:cNvSpPr>
            <a:spLocks noGrp="1"/>
          </p:cNvSpPr>
          <p:nvPr>
            <p:ph type="title"/>
          </p:nvPr>
        </p:nvSpPr>
        <p:spPr>
          <a:xfrm>
            <a:off x="191653" y="97272"/>
            <a:ext cx="11778673" cy="583766"/>
          </a:xfrm>
        </p:spPr>
        <p:txBody>
          <a:bodyPr>
            <a:normAutofit/>
          </a:bodyPr>
          <a:lstStyle/>
          <a:p>
            <a:r>
              <a:rPr lang="en-US" sz="2000" dirty="0"/>
              <a:t>Validating Solution:</a:t>
            </a:r>
            <a:endParaRPr lang="en-US" sz="2000" dirty="0">
              <a:solidFill>
                <a:srgbClr val="FF0000"/>
              </a:solidFill>
            </a:endParaRPr>
          </a:p>
        </p:txBody>
      </p:sp>
      <p:sp>
        <p:nvSpPr>
          <p:cNvPr id="3" name="Content Placeholder 2">
            <a:extLst>
              <a:ext uri="{FF2B5EF4-FFF2-40B4-BE49-F238E27FC236}">
                <a16:creationId xmlns:a16="http://schemas.microsoft.com/office/drawing/2014/main" id="{1591400B-714E-17B7-8929-74D6CFD84DA9}"/>
              </a:ext>
            </a:extLst>
          </p:cNvPr>
          <p:cNvSpPr>
            <a:spLocks noGrp="1"/>
          </p:cNvSpPr>
          <p:nvPr>
            <p:ph idx="1"/>
          </p:nvPr>
        </p:nvSpPr>
        <p:spPr>
          <a:xfrm>
            <a:off x="191652" y="772679"/>
            <a:ext cx="11778673" cy="5895975"/>
          </a:xfrm>
        </p:spPr>
        <p:txBody>
          <a:bodyPr>
            <a:noAutofit/>
          </a:bodyPr>
          <a:lstStyle/>
          <a:p>
            <a:pPr marL="0" indent="0">
              <a:lnSpc>
                <a:spcPct val="100000"/>
              </a:lnSpc>
              <a:buNone/>
            </a:pPr>
            <a:r>
              <a:rPr lang="en-US" sz="1200" dirty="0">
                <a:effectLst/>
                <a:latin typeface="Arial" panose="020B0604020202020204" pitchFamily="34" charset="0"/>
                <a:cs typeface="Arial" panose="020B0604020202020204" pitchFamily="34" charset="0"/>
              </a:rPr>
              <a:t>Other data processing we do are:</a:t>
            </a:r>
          </a:p>
          <a:p>
            <a:pPr>
              <a:lnSpc>
                <a:spcPct val="100000"/>
              </a:lnSpc>
            </a:pPr>
            <a:r>
              <a:rPr lang="en-US" sz="1200" dirty="0">
                <a:effectLst/>
                <a:latin typeface="Arial" panose="020B0604020202020204" pitchFamily="34" charset="0"/>
                <a:cs typeface="Arial" panose="020B0604020202020204" pitchFamily="34" charset="0"/>
              </a:rPr>
              <a:t>Create a ‘timestamp’ column by concatenating date and time: this is important to maintain temporal structure. </a:t>
            </a:r>
          </a:p>
          <a:p>
            <a:pPr lvl="1">
              <a:lnSpc>
                <a:spcPct val="100000"/>
              </a:lnSpc>
            </a:pPr>
            <a:r>
              <a:rPr lang="en-US" sz="1200" dirty="0">
                <a:effectLst/>
                <a:latin typeface="Arial" panose="020B0604020202020204" pitchFamily="34" charset="0"/>
                <a:cs typeface="Arial" panose="020B0604020202020204" pitchFamily="34" charset="0"/>
              </a:rPr>
              <a:t>We identified erroneous dates (i.e., “06-31-1991”)</a:t>
            </a:r>
          </a:p>
          <a:p>
            <a:pPr lvl="2">
              <a:lnSpc>
                <a:spcPct val="100000"/>
              </a:lnSpc>
            </a:pPr>
            <a:r>
              <a:rPr lang="en-US" sz="1200" dirty="0">
                <a:solidFill>
                  <a:srgbClr val="FF0000"/>
                </a:solidFill>
                <a:effectLst/>
                <a:latin typeface="Arial" panose="020B0604020202020204" pitchFamily="34" charset="0"/>
                <a:cs typeface="Arial" panose="020B0604020202020204" pitchFamily="34" charset="0"/>
              </a:rPr>
              <a:t>CO encoded as 6/30/1991, the last valid last day of June </a:t>
            </a:r>
          </a:p>
          <a:p>
            <a:pPr>
              <a:lnSpc>
                <a:spcPct val="100000"/>
              </a:lnSpc>
            </a:pPr>
            <a:r>
              <a:rPr lang="en-US" sz="1200" dirty="0">
                <a:effectLst/>
                <a:latin typeface="Arial" panose="020B0604020202020204" pitchFamily="34" charset="0"/>
                <a:cs typeface="Arial" panose="020B0604020202020204" pitchFamily="34" charset="0"/>
              </a:rPr>
              <a:t>Chris’s Processing: Missing code values are filled with the mean of the code value: null values mean that for a patient, there was no measurement for a specific code at the given time. (i.e., patient was scheduled to record but did not) </a:t>
            </a:r>
          </a:p>
          <a:p>
            <a:pPr lvl="1">
              <a:lnSpc>
                <a:spcPct val="100000"/>
              </a:lnSpc>
            </a:pPr>
            <a:r>
              <a:rPr lang="en-US" sz="1200" dirty="0">
                <a:effectLst/>
                <a:latin typeface="Arial" panose="020B0604020202020204" pitchFamily="34" charset="0"/>
                <a:cs typeface="Arial" panose="020B0604020202020204" pitchFamily="34" charset="0"/>
              </a:rPr>
              <a:t>It is important we do not fill with ‘0’, as this would not be reasonable to assume that a patient's blood glucose level is non-existent (i.e., should be &gt;0). Nulls mean that no measurement for a particular code was computed on the day. However, we note that if we use the mean, this can have a limitation in which we skew our observations. </a:t>
            </a:r>
            <a:r>
              <a:rPr lang="en-US" sz="1200" dirty="0">
                <a:solidFill>
                  <a:srgbClr val="FF0000"/>
                </a:solidFill>
                <a:effectLst/>
                <a:latin typeface="Arial" panose="020B0604020202020204" pitchFamily="34" charset="0"/>
                <a:cs typeface="Arial" panose="020B0604020202020204" pitchFamily="34" charset="0"/>
              </a:rPr>
              <a:t>Enhancement: would computing the mean by patient-day be more accurate? Right now, I could also have quite a bit of smoothing. </a:t>
            </a:r>
            <a:r>
              <a:rPr lang="en-US" sz="1200" dirty="0">
                <a:effectLst/>
                <a:latin typeface="Arial" panose="020B0604020202020204" pitchFamily="34" charset="0"/>
                <a:cs typeface="Arial" panose="020B0604020202020204" pitchFamily="34" charset="0"/>
              </a:rPr>
              <a:t>Averaging results in artificial smoothing of the events pre/during/post meals, which we’d want to capture </a:t>
            </a:r>
          </a:p>
          <a:p>
            <a:pPr>
              <a:lnSpc>
                <a:spcPct val="100000"/>
              </a:lnSpc>
            </a:pPr>
            <a:r>
              <a:rPr lang="en-US" sz="1200" dirty="0">
                <a:effectLst/>
                <a:latin typeface="Arial" panose="020B0604020202020204" pitchFamily="34" charset="0"/>
                <a:cs typeface="Arial" panose="020B0604020202020204" pitchFamily="34" charset="0"/>
              </a:rPr>
              <a:t>Data type consistency: we convert all code values to strings (i.e., categorical variables) as that will be our predictors, both in Chris’s MSE problem and Ahmad’s binary linear programming problem. </a:t>
            </a:r>
          </a:p>
        </p:txBody>
      </p:sp>
    </p:spTree>
    <p:extLst>
      <p:ext uri="{BB962C8B-B14F-4D97-AF65-F5344CB8AC3E}">
        <p14:creationId xmlns:p14="http://schemas.microsoft.com/office/powerpoint/2010/main" val="1874722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4A7B9-F828-C164-2E87-042C26535C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8DB1C2-B772-76FE-14F4-DFBF20BDD28D}"/>
              </a:ext>
            </a:extLst>
          </p:cNvPr>
          <p:cNvSpPr>
            <a:spLocks noGrp="1"/>
          </p:cNvSpPr>
          <p:nvPr>
            <p:ph type="title"/>
          </p:nvPr>
        </p:nvSpPr>
        <p:spPr>
          <a:xfrm>
            <a:off x="191653" y="97272"/>
            <a:ext cx="11778673" cy="583766"/>
          </a:xfrm>
        </p:spPr>
        <p:txBody>
          <a:bodyPr>
            <a:normAutofit/>
          </a:bodyPr>
          <a:lstStyle/>
          <a:p>
            <a:r>
              <a:rPr lang="en-US" sz="2000" dirty="0"/>
              <a:t>Validating Solution:</a:t>
            </a:r>
            <a:endParaRPr lang="en-US" sz="2000" dirty="0">
              <a:solidFill>
                <a:srgbClr val="FF0000"/>
              </a:solidFill>
            </a:endParaRPr>
          </a:p>
        </p:txBody>
      </p:sp>
      <p:sp>
        <p:nvSpPr>
          <p:cNvPr id="3" name="Content Placeholder 2">
            <a:extLst>
              <a:ext uri="{FF2B5EF4-FFF2-40B4-BE49-F238E27FC236}">
                <a16:creationId xmlns:a16="http://schemas.microsoft.com/office/drawing/2014/main" id="{A4D3ED71-98C0-2B3B-491D-DC8D182379CA}"/>
              </a:ext>
            </a:extLst>
          </p:cNvPr>
          <p:cNvSpPr>
            <a:spLocks noGrp="1"/>
          </p:cNvSpPr>
          <p:nvPr>
            <p:ph idx="1"/>
          </p:nvPr>
        </p:nvSpPr>
        <p:spPr>
          <a:xfrm>
            <a:off x="191652" y="772679"/>
            <a:ext cx="11778673" cy="5895975"/>
          </a:xfrm>
        </p:spPr>
        <p:txBody>
          <a:bodyPr>
            <a:noAutofit/>
          </a:bodyPr>
          <a:lstStyle/>
          <a:p>
            <a:pPr marL="0" indent="0">
              <a:lnSpc>
                <a:spcPct val="100000"/>
              </a:lnSpc>
              <a:buNone/>
            </a:pPr>
            <a:r>
              <a:rPr lang="en-US" sz="1200" b="1" dirty="0">
                <a:effectLst/>
                <a:latin typeface="Arial" panose="020B0604020202020204" pitchFamily="34" charset="0"/>
                <a:cs typeface="Arial" panose="020B0604020202020204" pitchFamily="34" charset="0"/>
              </a:rPr>
              <a:t>Additional data processing is done by Ahmad for his solution:</a:t>
            </a:r>
            <a:r>
              <a:rPr lang="en-US" sz="1200" dirty="0">
                <a:solidFill>
                  <a:srgbClr val="FF0000"/>
                </a:solidFill>
                <a:effectLst/>
                <a:latin typeface="Arial" panose="020B0604020202020204" pitchFamily="34" charset="0"/>
                <a:cs typeface="Arial" panose="020B0604020202020204" pitchFamily="34" charset="0"/>
              </a:rPr>
              <a:t> add in</a:t>
            </a:r>
          </a:p>
          <a:p>
            <a:pPr>
              <a:lnSpc>
                <a:spcPct val="100000"/>
              </a:lnSpc>
            </a:pPr>
            <a:r>
              <a:rPr lang="en-US" sz="1200" dirty="0">
                <a:effectLst/>
                <a:latin typeface="Arial" panose="020B0604020202020204" pitchFamily="34" charset="0"/>
                <a:cs typeface="Arial" panose="020B0604020202020204" pitchFamily="34" charset="0"/>
              </a:rPr>
              <a:t>Per Ahmad’s processing: He has X number of unique observations. </a:t>
            </a:r>
          </a:p>
          <a:p>
            <a:pPr>
              <a:lnSpc>
                <a:spcPct val="100000"/>
              </a:lnSpc>
            </a:pPr>
            <a:r>
              <a:rPr lang="en-US" sz="1200" dirty="0">
                <a:effectLst/>
                <a:latin typeface="Arial" panose="020B0604020202020204" pitchFamily="34" charset="0"/>
                <a:cs typeface="Arial" panose="020B0604020202020204" pitchFamily="34" charset="0"/>
              </a:rPr>
              <a:t>Per Chris’s processing: We have 14,741 unique observations (i.e., patient-time stamp rows) spanning </a:t>
            </a:r>
            <a:r>
              <a:rPr lang="en-US" sz="1200" dirty="0">
                <a:solidFill>
                  <a:srgbClr val="FF0000"/>
                </a:solidFill>
                <a:effectLst/>
                <a:latin typeface="Arial" panose="020B0604020202020204" pitchFamily="34" charset="0"/>
                <a:cs typeface="Arial" panose="020B0604020202020204" pitchFamily="34" charset="0"/>
              </a:rPr>
              <a:t>3</a:t>
            </a:r>
            <a:r>
              <a:rPr lang="en-US" sz="1200" dirty="0">
                <a:effectLst/>
                <a:latin typeface="Arial" panose="020B0604020202020204" pitchFamily="34" charset="0"/>
                <a:cs typeface="Arial" panose="020B0604020202020204" pitchFamily="34" charset="0"/>
              </a:rPr>
              <a:t> months of data.</a:t>
            </a:r>
          </a:p>
          <a:p>
            <a:pPr lvl="1">
              <a:lnSpc>
                <a:spcPct val="100000"/>
              </a:lnSpc>
            </a:pPr>
            <a:r>
              <a:rPr lang="en-US" sz="1200" dirty="0">
                <a:solidFill>
                  <a:srgbClr val="FF0000"/>
                </a:solidFill>
                <a:effectLst/>
                <a:latin typeface="Arial" panose="020B0604020202020204" pitchFamily="34" charset="0"/>
                <a:cs typeface="Arial" panose="020B0604020202020204" pitchFamily="34" charset="0"/>
              </a:rPr>
              <a:t>Enhancement: try stratified sampling across patient, and a time-based ordered split to preserve temporal order in the data. </a:t>
            </a:r>
          </a:p>
          <a:p>
            <a:pPr marL="0" indent="0">
              <a:lnSpc>
                <a:spcPct val="100000"/>
              </a:lnSpc>
              <a:buNone/>
            </a:pPr>
            <a:endParaRPr lang="en-US" sz="1200" dirty="0">
              <a:effectLst/>
              <a:latin typeface="Arial" panose="020B0604020202020204" pitchFamily="34" charset="0"/>
              <a:cs typeface="Arial" panose="020B0604020202020204" pitchFamily="34" charset="0"/>
            </a:endParaRPr>
          </a:p>
          <a:p>
            <a:pPr marL="0" indent="0">
              <a:lnSpc>
                <a:spcPct val="100000"/>
              </a:lnSpc>
              <a:buNone/>
            </a:pPr>
            <a:r>
              <a:rPr lang="en-US" sz="1200" dirty="0">
                <a:effectLst/>
                <a:latin typeface="Arial" panose="020B0604020202020204" pitchFamily="34" charset="0"/>
                <a:cs typeface="Arial" panose="020B0604020202020204" pitchFamily="34" charset="0"/>
              </a:rPr>
              <a:t>Next, we understand our data set through pivots, aggregation counts, and other exploratory measures. </a:t>
            </a:r>
          </a:p>
          <a:p>
            <a:pPr>
              <a:lnSpc>
                <a:spcPct val="100000"/>
              </a:lnSpc>
            </a:pPr>
            <a:r>
              <a:rPr lang="en-US" sz="1200" dirty="0">
                <a:latin typeface="Arial" panose="020B0604020202020204" pitchFamily="34" charset="0"/>
                <a:cs typeface="Arial" panose="020B0604020202020204" pitchFamily="34" charset="0"/>
              </a:rPr>
              <a:t>Timeframe:</a:t>
            </a:r>
            <a:r>
              <a:rPr lang="en-US" sz="1200" dirty="0">
                <a:solidFill>
                  <a:srgbClr val="FF0000"/>
                </a:solidFill>
                <a:latin typeface="Arial" panose="020B0604020202020204" pitchFamily="34" charset="0"/>
                <a:cs typeface="Arial" panose="020B0604020202020204" pitchFamily="34" charset="0"/>
              </a:rPr>
              <a:t> add in</a:t>
            </a:r>
          </a:p>
          <a:p>
            <a:pPr>
              <a:lnSpc>
                <a:spcPct val="100000"/>
              </a:lnSpc>
            </a:pPr>
            <a:r>
              <a:rPr lang="en-US" sz="1200" dirty="0">
                <a:latin typeface="Arial" panose="020B0604020202020204" pitchFamily="34" charset="0"/>
                <a:cs typeface="Arial" panose="020B0604020202020204" pitchFamily="34" charset="0"/>
              </a:rPr>
              <a:t># patients:</a:t>
            </a:r>
            <a:r>
              <a:rPr lang="en-US" sz="1200" dirty="0">
                <a:solidFill>
                  <a:srgbClr val="FF0000"/>
                </a:solidFill>
                <a:latin typeface="Arial" panose="020B0604020202020204" pitchFamily="34" charset="0"/>
                <a:cs typeface="Arial" panose="020B0604020202020204" pitchFamily="34" charset="0"/>
              </a:rPr>
              <a:t> add in</a:t>
            </a:r>
            <a:endParaRPr lang="en-US" sz="1200" dirty="0">
              <a:latin typeface="Arial" panose="020B0604020202020204" pitchFamily="34" charset="0"/>
              <a:cs typeface="Arial" panose="020B0604020202020204" pitchFamily="34" charset="0"/>
            </a:endParaRPr>
          </a:p>
          <a:p>
            <a:pPr>
              <a:lnSpc>
                <a:spcPct val="100000"/>
              </a:lnSpc>
            </a:pPr>
            <a:r>
              <a:rPr lang="en-US" sz="1200" dirty="0">
                <a:latin typeface="Arial" panose="020B0604020202020204" pitchFamily="34" charset="0"/>
                <a:cs typeface="Arial" panose="020B0604020202020204" pitchFamily="34" charset="0"/>
              </a:rPr>
              <a:t>Total recordings per patient: </a:t>
            </a:r>
            <a:r>
              <a:rPr lang="en-US" sz="1200" dirty="0">
                <a:solidFill>
                  <a:srgbClr val="FF0000"/>
                </a:solidFill>
                <a:latin typeface="Arial" panose="020B0604020202020204" pitchFamily="34" charset="0"/>
                <a:cs typeface="Arial" panose="020B0604020202020204" pitchFamily="34" charset="0"/>
              </a:rPr>
              <a:t> add in</a:t>
            </a:r>
          </a:p>
          <a:p>
            <a:pPr>
              <a:lnSpc>
                <a:spcPct val="100000"/>
              </a:lnSpc>
            </a:pPr>
            <a:r>
              <a:rPr lang="en-US" sz="1200" dirty="0">
                <a:solidFill>
                  <a:srgbClr val="FF0000"/>
                </a:solidFill>
                <a:latin typeface="Arial" panose="020B0604020202020204" pitchFamily="34" charset="0"/>
                <a:cs typeface="Arial" panose="020B0604020202020204" pitchFamily="34" charset="0"/>
              </a:rPr>
              <a:t>check distribution of features for any outliers, as least squares would be sensitive to outliers</a:t>
            </a:r>
            <a:endParaRPr lang="en-US" sz="1200" dirty="0">
              <a:solidFill>
                <a:srgbClr val="FF0000"/>
              </a:solidFill>
              <a:effectLst/>
              <a:latin typeface="Arial" panose="020B0604020202020204" pitchFamily="34" charset="0"/>
              <a:cs typeface="Arial" panose="020B0604020202020204" pitchFamily="34" charset="0"/>
            </a:endParaRPr>
          </a:p>
          <a:p>
            <a:pPr marL="0" indent="0">
              <a:lnSpc>
                <a:spcPct val="100000"/>
              </a:lnSpc>
              <a:buNone/>
            </a:pPr>
            <a:endParaRPr lang="en-US" sz="1200" dirty="0">
              <a:latin typeface="Arial" panose="020B0604020202020204" pitchFamily="34" charset="0"/>
              <a:cs typeface="Arial" panose="020B0604020202020204" pitchFamily="34" charset="0"/>
            </a:endParaRPr>
          </a:p>
          <a:p>
            <a:pPr marL="0" indent="0">
              <a:lnSpc>
                <a:spcPct val="100000"/>
              </a:lnSpc>
              <a:buNone/>
            </a:pPr>
            <a:r>
              <a:rPr lang="en-US" sz="1200" b="1" dirty="0">
                <a:latin typeface="Arial" panose="020B0604020202020204" pitchFamily="34" charset="0"/>
                <a:cs typeface="Arial" panose="020B0604020202020204" pitchFamily="34" charset="0"/>
              </a:rPr>
              <a:t>Train-Test split: </a:t>
            </a:r>
            <a:r>
              <a:rPr lang="en-US" sz="1200" dirty="0">
                <a:latin typeface="Arial" panose="020B0604020202020204" pitchFamily="34" charset="0"/>
                <a:cs typeface="Arial" panose="020B0604020202020204" pitchFamily="34" charset="0"/>
              </a:rPr>
              <a:t>Next, we divide our data into </a:t>
            </a:r>
            <a:r>
              <a:rPr lang="en-US" sz="1200" dirty="0">
                <a:effectLst/>
                <a:latin typeface="Arial" panose="020B0604020202020204" pitchFamily="34" charset="0"/>
                <a:cs typeface="Arial" panose="020B0604020202020204" pitchFamily="34" charset="0"/>
              </a:rPr>
              <a:t>training and testing sets </a:t>
            </a:r>
          </a:p>
          <a:p>
            <a:pPr>
              <a:lnSpc>
                <a:spcPct val="100000"/>
              </a:lnSpc>
            </a:pPr>
            <a:r>
              <a:rPr lang="en-US" sz="1200" dirty="0">
                <a:effectLst/>
                <a:latin typeface="Arial" panose="020B0604020202020204" pitchFamily="34" charset="0"/>
                <a:cs typeface="Arial" panose="020B0604020202020204" pitchFamily="34" charset="0"/>
              </a:rPr>
              <a:t>Ahmad: </a:t>
            </a:r>
            <a:r>
              <a:rPr lang="en-US" sz="1200" dirty="0">
                <a:solidFill>
                  <a:srgbClr val="FF0000"/>
                </a:solidFill>
                <a:effectLst/>
                <a:latin typeface="Arial" panose="020B0604020202020204" pitchFamily="34" charset="0"/>
                <a:cs typeface="Arial" panose="020B0604020202020204" pitchFamily="34" charset="0"/>
              </a:rPr>
              <a:t>fill in </a:t>
            </a:r>
          </a:p>
          <a:p>
            <a:pPr>
              <a:lnSpc>
                <a:spcPct val="100000"/>
              </a:lnSpc>
            </a:pPr>
            <a:r>
              <a:rPr lang="en-US" sz="1200" dirty="0">
                <a:effectLst/>
                <a:latin typeface="Arial" panose="020B0604020202020204" pitchFamily="34" charset="0"/>
                <a:cs typeface="Arial" panose="020B0604020202020204" pitchFamily="34" charset="0"/>
              </a:rPr>
              <a:t>Chris: used an 80%, 20% split, which is typical as seen in industry. </a:t>
            </a:r>
          </a:p>
          <a:p>
            <a:pPr lvl="1">
              <a:lnSpc>
                <a:spcPct val="100000"/>
              </a:lnSpc>
            </a:pPr>
            <a:r>
              <a:rPr lang="en-US" sz="1200" dirty="0">
                <a:effectLst/>
                <a:latin typeface="Arial" panose="020B0604020202020204" pitchFamily="34" charset="0"/>
                <a:cs typeface="Arial" panose="020B0604020202020204" pitchFamily="34" charset="0"/>
              </a:rPr>
              <a:t>We will train our unconstrained and regularized least squares regression models on the training set, obtain our coefficients (weights), and use the weights to compute the glucose prediction for the test sample. </a:t>
            </a:r>
          </a:p>
          <a:p>
            <a:pPr lvl="1">
              <a:lnSpc>
                <a:spcPct val="100000"/>
              </a:lnSpc>
            </a:pPr>
            <a:r>
              <a:rPr lang="en-US" sz="1200" dirty="0">
                <a:effectLst/>
                <a:latin typeface="Arial" panose="020B0604020202020204" pitchFamily="34" charset="0"/>
                <a:cs typeface="Arial" panose="020B0604020202020204" pitchFamily="34" charset="0"/>
              </a:rPr>
              <a:t>We will examine in addition to MSE, RMSE and </a:t>
            </a:r>
            <a:r>
              <a:rPr lang="en-US" sz="1200" dirty="0">
                <a:solidFill>
                  <a:srgbClr val="FF0000"/>
                </a:solidFill>
                <a:effectLst/>
                <a:latin typeface="Arial" panose="020B0604020202020204" pitchFamily="34" charset="0"/>
                <a:cs typeface="Arial" panose="020B0604020202020204" pitchFamily="34" charset="0"/>
              </a:rPr>
              <a:t>MAPE (compute) to examine how accurate our solution is. </a:t>
            </a:r>
            <a:endParaRPr lang="en-US" sz="12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13950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0F12F-0F95-9AEA-9786-660FF79F07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C8F6AB-9C12-7E5F-911B-178257646FA8}"/>
              </a:ext>
            </a:extLst>
          </p:cNvPr>
          <p:cNvSpPr>
            <a:spLocks noGrp="1"/>
          </p:cNvSpPr>
          <p:nvPr>
            <p:ph type="title"/>
          </p:nvPr>
        </p:nvSpPr>
        <p:spPr>
          <a:xfrm>
            <a:off x="191653" y="97272"/>
            <a:ext cx="11778673" cy="583766"/>
          </a:xfrm>
        </p:spPr>
        <p:txBody>
          <a:bodyPr>
            <a:normAutofit/>
          </a:bodyPr>
          <a:lstStyle/>
          <a:p>
            <a:r>
              <a:rPr lang="en-US" sz="2000" dirty="0"/>
              <a:t>Validating Solution:</a:t>
            </a:r>
          </a:p>
        </p:txBody>
      </p:sp>
      <p:sp>
        <p:nvSpPr>
          <p:cNvPr id="3" name="Content Placeholder 2">
            <a:extLst>
              <a:ext uri="{FF2B5EF4-FFF2-40B4-BE49-F238E27FC236}">
                <a16:creationId xmlns:a16="http://schemas.microsoft.com/office/drawing/2014/main" id="{995A68B1-0785-1797-07DF-0518359425E0}"/>
              </a:ext>
            </a:extLst>
          </p:cNvPr>
          <p:cNvSpPr>
            <a:spLocks noGrp="1"/>
          </p:cNvSpPr>
          <p:nvPr>
            <p:ph idx="1"/>
          </p:nvPr>
        </p:nvSpPr>
        <p:spPr>
          <a:xfrm>
            <a:off x="191652" y="772679"/>
            <a:ext cx="11778673" cy="5895975"/>
          </a:xfrm>
        </p:spPr>
        <p:txBody>
          <a:bodyPr>
            <a:noAutofit/>
          </a:bodyPr>
          <a:lstStyle/>
          <a:p>
            <a:pPr marL="0" indent="0">
              <a:lnSpc>
                <a:spcPct val="100000"/>
              </a:lnSpc>
              <a:buNone/>
            </a:pPr>
            <a:r>
              <a:rPr lang="en-US" sz="1200" b="1" dirty="0">
                <a:effectLst/>
                <a:latin typeface="Arial" panose="020B0604020202020204" pitchFamily="34" charset="0"/>
                <a:cs typeface="Arial" panose="020B0604020202020204" pitchFamily="34" charset="0"/>
              </a:rPr>
              <a:t>Prompt:  </a:t>
            </a:r>
            <a:r>
              <a:rPr lang="en-US" sz="1200" dirty="0">
                <a:effectLst/>
                <a:latin typeface="Arial" panose="020B0604020202020204" pitchFamily="34" charset="0"/>
                <a:cs typeface="Arial" panose="020B0604020202020204" pitchFamily="34" charset="0"/>
              </a:rPr>
              <a:t>How did you test your solution is valid, e.g., what dataset was used, simulation details, theoretical analysis, what problems you faced, how did you overcome them? etc. </a:t>
            </a:r>
            <a:r>
              <a:rPr lang="en-US" sz="1200" b="1" dirty="0">
                <a:effectLst/>
                <a:latin typeface="Arial" panose="020B0604020202020204" pitchFamily="34" charset="0"/>
                <a:cs typeface="Arial" panose="020B0604020202020204" pitchFamily="34" charset="0"/>
              </a:rPr>
              <a:t>(max 5 slides)</a:t>
            </a:r>
          </a:p>
          <a:p>
            <a:pPr marL="0" indent="0">
              <a:lnSpc>
                <a:spcPct val="100000"/>
              </a:lnSpc>
              <a:buNone/>
            </a:pPr>
            <a:endParaRPr lang="en-US" sz="1200" b="1" dirty="0">
              <a:effectLst/>
              <a:latin typeface="Arial" panose="020B0604020202020204" pitchFamily="34" charset="0"/>
              <a:cs typeface="Arial" panose="020B0604020202020204" pitchFamily="34" charset="0"/>
            </a:endParaRPr>
          </a:p>
          <a:p>
            <a:pPr marL="0" indent="0">
              <a:lnSpc>
                <a:spcPct val="100000"/>
              </a:lnSpc>
              <a:buNone/>
            </a:pPr>
            <a:r>
              <a:rPr lang="en-US" sz="1200" b="1" dirty="0">
                <a:effectLst/>
                <a:latin typeface="Arial" panose="020B0604020202020204" pitchFamily="34" charset="0"/>
                <a:cs typeface="Arial" panose="020B0604020202020204" pitchFamily="34" charset="0"/>
              </a:rPr>
              <a:t>Ahmad’s Solution:</a:t>
            </a:r>
            <a:r>
              <a:rPr lang="en-US" sz="1200" dirty="0">
                <a:solidFill>
                  <a:srgbClr val="FF0000"/>
                </a:solidFill>
                <a:effectLst/>
                <a:latin typeface="Arial" panose="020B0604020202020204" pitchFamily="34" charset="0"/>
                <a:cs typeface="Arial" panose="020B0604020202020204" pitchFamily="34" charset="0"/>
              </a:rPr>
              <a:t> add in </a:t>
            </a:r>
          </a:p>
        </p:txBody>
      </p:sp>
    </p:spTree>
    <p:extLst>
      <p:ext uri="{BB962C8B-B14F-4D97-AF65-F5344CB8AC3E}">
        <p14:creationId xmlns:p14="http://schemas.microsoft.com/office/powerpoint/2010/main" val="1503298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0DA84-FB4C-EE71-BA08-8C07B94B36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AA4847-E5D8-70D0-04A0-12E505607027}"/>
              </a:ext>
            </a:extLst>
          </p:cNvPr>
          <p:cNvSpPr>
            <a:spLocks noGrp="1"/>
          </p:cNvSpPr>
          <p:nvPr>
            <p:ph type="title"/>
          </p:nvPr>
        </p:nvSpPr>
        <p:spPr>
          <a:xfrm>
            <a:off x="191653" y="97272"/>
            <a:ext cx="11778673" cy="583766"/>
          </a:xfrm>
        </p:spPr>
        <p:txBody>
          <a:bodyPr>
            <a:normAutofit/>
          </a:bodyPr>
          <a:lstStyle/>
          <a:p>
            <a:r>
              <a:rPr lang="en-US" sz="2000" dirty="0"/>
              <a:t>Validating Solution:</a:t>
            </a:r>
          </a:p>
        </p:txBody>
      </p:sp>
      <p:sp>
        <p:nvSpPr>
          <p:cNvPr id="3" name="Content Placeholder 2">
            <a:extLst>
              <a:ext uri="{FF2B5EF4-FFF2-40B4-BE49-F238E27FC236}">
                <a16:creationId xmlns:a16="http://schemas.microsoft.com/office/drawing/2014/main" id="{32A0EEFF-E356-301E-26E1-445FB12634D5}"/>
              </a:ext>
            </a:extLst>
          </p:cNvPr>
          <p:cNvSpPr>
            <a:spLocks noGrp="1"/>
          </p:cNvSpPr>
          <p:nvPr>
            <p:ph idx="1"/>
          </p:nvPr>
        </p:nvSpPr>
        <p:spPr>
          <a:xfrm>
            <a:off x="191652" y="570753"/>
            <a:ext cx="11778673" cy="5895975"/>
          </a:xfrm>
        </p:spPr>
        <p:txBody>
          <a:bodyPr>
            <a:noAutofit/>
          </a:bodyPr>
          <a:lstStyle/>
          <a:p>
            <a:pPr marL="0" indent="0">
              <a:lnSpc>
                <a:spcPct val="100000"/>
              </a:lnSpc>
              <a:buNone/>
            </a:pPr>
            <a:r>
              <a:rPr lang="en-US" sz="1200" b="1" dirty="0">
                <a:effectLst/>
                <a:latin typeface="Arial" panose="020B0604020202020204" pitchFamily="34" charset="0"/>
                <a:cs typeface="Arial" panose="020B0604020202020204" pitchFamily="34" charset="0"/>
              </a:rPr>
              <a:t>Prompt:  </a:t>
            </a:r>
            <a:r>
              <a:rPr lang="en-US" sz="1200" dirty="0">
                <a:effectLst/>
                <a:latin typeface="Arial" panose="020B0604020202020204" pitchFamily="34" charset="0"/>
                <a:cs typeface="Arial" panose="020B0604020202020204" pitchFamily="34" charset="0"/>
              </a:rPr>
              <a:t>How did you test your solution is valid, e.g., what dataset was used, simulation details, theoretical analysis, what problems you faced, how did you overcome them? etc. </a:t>
            </a:r>
            <a:r>
              <a:rPr lang="en-US" sz="1200" b="1" dirty="0">
                <a:effectLst/>
                <a:latin typeface="Arial" panose="020B0604020202020204" pitchFamily="34" charset="0"/>
                <a:cs typeface="Arial" panose="020B0604020202020204" pitchFamily="34" charset="0"/>
              </a:rPr>
              <a:t>(max 5 slides)</a:t>
            </a:r>
          </a:p>
          <a:p>
            <a:pPr marL="0" indent="0">
              <a:lnSpc>
                <a:spcPct val="100000"/>
              </a:lnSpc>
              <a:buNone/>
            </a:pPr>
            <a:r>
              <a:rPr lang="en-US" sz="1200" b="1" dirty="0">
                <a:effectLst/>
                <a:latin typeface="Arial" panose="020B0604020202020204" pitchFamily="34" charset="0"/>
                <a:cs typeface="Arial" panose="020B0604020202020204" pitchFamily="34" charset="0"/>
              </a:rPr>
              <a:t>Chris’s Solution: </a:t>
            </a:r>
            <a:r>
              <a:rPr lang="en-US" sz="1200" dirty="0">
                <a:effectLst/>
                <a:latin typeface="Arial" panose="020B0604020202020204" pitchFamily="34" charset="0"/>
                <a:cs typeface="Arial" panose="020B0604020202020204" pitchFamily="34" charset="0"/>
              </a:rPr>
              <a:t>Below, we show the cost curves for our base unconstrained model, our L1-regularized model, and our L2 regularized model, all which achieve convergence. As confirmed by the MSE scores at the final iteration (1000), our MSE is as follows. We can see that as expected, our Base model is the least parsimonious and may have reduced prediction potential on future patient data. L1 regularization trims the features to the first several and zeros out the remainder, while ridge regression includes all features but shrinks the influence of those coefficients who don’t add explanatory power towards predicting glucose (i.e., have high variance to the target).The bias term can interpreted as the ‘steady-state’ glucose level of the patient (i.e., assuming fasting and no meals or other activity).</a:t>
            </a:r>
          </a:p>
          <a:p>
            <a:pPr marL="0" indent="0">
              <a:lnSpc>
                <a:spcPct val="100000"/>
              </a:lnSpc>
              <a:buNone/>
            </a:pPr>
            <a:r>
              <a:rPr lang="en-US" sz="1200" dirty="0">
                <a:solidFill>
                  <a:srgbClr val="FF0000"/>
                </a:solidFill>
                <a:effectLst/>
                <a:latin typeface="Arial" panose="020B0604020202020204" pitchFamily="34" charset="0"/>
                <a:cs typeface="Arial" panose="020B0604020202020204" pitchFamily="34" charset="0"/>
              </a:rPr>
              <a:t>Enhancements: 1. Plot RMSE (i.e., y magnitude smaller and also will be in units of measurement); 2. combine plots as one figure; 3. write out the final equations / code in python as dot products between X and weights for predictions. Why do we not have negative coefficients like with Ahmad (look at further). </a:t>
            </a:r>
          </a:p>
          <a:p>
            <a:pPr>
              <a:lnSpc>
                <a:spcPct val="100000"/>
              </a:lnSpc>
            </a:pPr>
            <a:endParaRPr lang="en-US" sz="1200" dirty="0">
              <a:effectLst/>
              <a:latin typeface="Arial" panose="020B0604020202020204" pitchFamily="34" charset="0"/>
              <a:cs typeface="Arial" panose="020B0604020202020204" pitchFamily="34" charset="0"/>
            </a:endParaRPr>
          </a:p>
        </p:txBody>
      </p:sp>
      <p:graphicFrame>
        <p:nvGraphicFramePr>
          <p:cNvPr id="14" name="Table 13">
            <a:extLst>
              <a:ext uri="{FF2B5EF4-FFF2-40B4-BE49-F238E27FC236}">
                <a16:creationId xmlns:a16="http://schemas.microsoft.com/office/drawing/2014/main" id="{E222D99A-958A-0634-BFF8-E4CCC270C42A}"/>
              </a:ext>
            </a:extLst>
          </p:cNvPr>
          <p:cNvGraphicFramePr>
            <a:graphicFrameLocks noGrp="1"/>
          </p:cNvGraphicFramePr>
          <p:nvPr>
            <p:extLst>
              <p:ext uri="{D42A27DB-BD31-4B8C-83A1-F6EECF244321}">
                <p14:modId xmlns:p14="http://schemas.microsoft.com/office/powerpoint/2010/main" val="2162378874"/>
              </p:ext>
            </p:extLst>
          </p:nvPr>
        </p:nvGraphicFramePr>
        <p:xfrm>
          <a:off x="6776023" y="2596447"/>
          <a:ext cx="4680559" cy="3619500"/>
        </p:xfrm>
        <a:graphic>
          <a:graphicData uri="http://schemas.openxmlformats.org/drawingml/2006/table">
            <a:tbl>
              <a:tblPr/>
              <a:tblGrid>
                <a:gridCol w="958951">
                  <a:extLst>
                    <a:ext uri="{9D8B030D-6E8A-4147-A177-3AD203B41FA5}">
                      <a16:colId xmlns:a16="http://schemas.microsoft.com/office/drawing/2014/main" val="3337722431"/>
                    </a:ext>
                  </a:extLst>
                </a:gridCol>
                <a:gridCol w="1143000">
                  <a:extLst>
                    <a:ext uri="{9D8B030D-6E8A-4147-A177-3AD203B41FA5}">
                      <a16:colId xmlns:a16="http://schemas.microsoft.com/office/drawing/2014/main" val="1046024966"/>
                    </a:ext>
                  </a:extLst>
                </a:gridCol>
                <a:gridCol w="1216152">
                  <a:extLst>
                    <a:ext uri="{9D8B030D-6E8A-4147-A177-3AD203B41FA5}">
                      <a16:colId xmlns:a16="http://schemas.microsoft.com/office/drawing/2014/main" val="3012520720"/>
                    </a:ext>
                  </a:extLst>
                </a:gridCol>
                <a:gridCol w="1362456">
                  <a:extLst>
                    <a:ext uri="{9D8B030D-6E8A-4147-A177-3AD203B41FA5}">
                      <a16:colId xmlns:a16="http://schemas.microsoft.com/office/drawing/2014/main" val="1051207700"/>
                    </a:ext>
                  </a:extLst>
                </a:gridCol>
              </a:tblGrid>
              <a:tr h="64449">
                <a:tc>
                  <a:txBody>
                    <a:bodyPr/>
                    <a:lstStyle/>
                    <a:p>
                      <a:pPr algn="ctr" fontAlgn="ctr">
                        <a:buNone/>
                      </a:pPr>
                      <a:r>
                        <a:rPr lang="en-US" sz="1200" b="1" i="0" u="none" strike="noStrike" dirty="0">
                          <a:solidFill>
                            <a:schemeClr val="tx1"/>
                          </a:solidFill>
                          <a:effectLst/>
                          <a:latin typeface="Arial" panose="020B0604020202020204" pitchFamily="34" charset="0"/>
                          <a:cs typeface="Arial" panose="020B0604020202020204" pitchFamily="34" charset="0"/>
                        </a:rPr>
                        <a:t>Term</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1" i="0" u="none" strike="noStrike" dirty="0">
                          <a:solidFill>
                            <a:schemeClr val="tx1"/>
                          </a:solidFill>
                          <a:effectLst/>
                          <a:latin typeface="Arial" panose="020B0604020202020204" pitchFamily="34" charset="0"/>
                          <a:cs typeface="Arial" panose="020B0604020202020204" pitchFamily="34" charset="0"/>
                        </a:rPr>
                        <a:t>Base Model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1" i="0" u="none" strike="noStrike" dirty="0">
                          <a:solidFill>
                            <a:schemeClr val="tx1"/>
                          </a:solidFill>
                          <a:effectLst/>
                          <a:latin typeface="Arial" panose="020B0604020202020204" pitchFamily="34" charset="0"/>
                          <a:cs typeface="Arial" panose="020B0604020202020204" pitchFamily="34" charset="0"/>
                        </a:rPr>
                        <a:t>L1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1" i="0" u="none" strike="noStrike" dirty="0">
                          <a:solidFill>
                            <a:schemeClr val="tx1"/>
                          </a:solidFill>
                          <a:effectLst/>
                          <a:latin typeface="Arial" panose="020B0604020202020204" pitchFamily="34" charset="0"/>
                          <a:cs typeface="Arial" panose="020B0604020202020204" pitchFamily="34" charset="0"/>
                        </a:rPr>
                        <a:t>L2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5522196"/>
                  </a:ext>
                </a:extLst>
              </a:tr>
              <a:tr h="64449">
                <a:tc>
                  <a:txBody>
                    <a:bodyPr/>
                    <a:lstStyle/>
                    <a:p>
                      <a:pPr algn="ctr" fontAlgn="ctr">
                        <a:buNone/>
                      </a:pPr>
                      <a:r>
                        <a:rPr lang="en-US" sz="1200" b="0" i="0" u="none" strike="noStrike" dirty="0">
                          <a:solidFill>
                            <a:schemeClr val="tx1"/>
                          </a:solidFill>
                          <a:effectLst/>
                          <a:latin typeface="Arial" panose="020B0604020202020204" pitchFamily="34" charset="0"/>
                          <a:cs typeface="Arial" panose="020B0604020202020204" pitchFamily="34" charset="0"/>
                        </a:rPr>
                        <a:t>bias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113.9795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dirty="0">
                          <a:solidFill>
                            <a:schemeClr val="tx1"/>
                          </a:solidFill>
                          <a:effectLst/>
                          <a:latin typeface="Arial" panose="020B0604020202020204" pitchFamily="34" charset="0"/>
                          <a:cs typeface="Arial" panose="020B0604020202020204" pitchFamily="34" charset="0"/>
                        </a:rPr>
                        <a:t>114.9873</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dirty="0">
                          <a:solidFill>
                            <a:schemeClr val="tx1"/>
                          </a:solidFill>
                          <a:effectLst/>
                          <a:latin typeface="Arial" panose="020B0604020202020204" pitchFamily="34" charset="0"/>
                          <a:cs typeface="Arial" panose="020B0604020202020204" pitchFamily="34" charset="0"/>
                        </a:rPr>
                        <a:t>141.384</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2186499"/>
                  </a:ext>
                </a:extLst>
              </a:tr>
              <a:tr h="64449">
                <a:tc>
                  <a:txBody>
                    <a:bodyPr/>
                    <a:lstStyle/>
                    <a:p>
                      <a:pPr algn="ctr" fontAlgn="ctr">
                        <a:buNone/>
                      </a:pPr>
                      <a:r>
                        <a:rPr lang="en-US" sz="1200" b="0" i="0" u="none" strike="noStrike" dirty="0">
                          <a:solidFill>
                            <a:schemeClr val="tx1"/>
                          </a:solidFill>
                          <a:effectLst/>
                          <a:latin typeface="Arial" panose="020B0604020202020204" pitchFamily="34" charset="0"/>
                          <a:cs typeface="Arial" panose="020B0604020202020204" pitchFamily="34" charset="0"/>
                        </a:rPr>
                        <a:t>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u="none" strike="noStrike" dirty="0">
                          <a:solidFill>
                            <a:schemeClr val="tx1"/>
                          </a:solidFill>
                          <a:effectLst/>
                          <a:latin typeface="Arial" panose="020B0604020202020204" pitchFamily="34" charset="0"/>
                          <a:cs typeface="Arial" panose="020B060402020202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0</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0.367695</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8421318"/>
                  </a:ext>
                </a:extLst>
              </a:tr>
              <a:tr h="64449">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33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3.131257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2.152107</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1.553801</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8307923"/>
                  </a:ext>
                </a:extLst>
              </a:tr>
              <a:tr h="64449">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34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5.261244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dirty="0">
                          <a:solidFill>
                            <a:schemeClr val="tx1"/>
                          </a:solidFill>
                          <a:effectLst/>
                          <a:latin typeface="Arial" panose="020B0604020202020204" pitchFamily="34" charset="0"/>
                          <a:cs typeface="Arial" panose="020B0604020202020204" pitchFamily="34" charset="0"/>
                        </a:rPr>
                        <a:t>4.300446</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2.715894</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277026"/>
                  </a:ext>
                </a:extLst>
              </a:tr>
              <a:tr h="64449">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35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u="none" strike="noStrike" dirty="0">
                          <a:solidFill>
                            <a:schemeClr val="tx1"/>
                          </a:solidFill>
                          <a:effectLst/>
                          <a:latin typeface="Arial" panose="020B0604020202020204" pitchFamily="34" charset="0"/>
                          <a:cs typeface="Arial" panose="020B0604020202020204" pitchFamily="34" charset="0"/>
                        </a:rPr>
                        <a:t>52.45049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51.94647</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28.90062</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9536762"/>
                  </a:ext>
                </a:extLst>
              </a:tr>
              <a:tr h="64449">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36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0</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0.367695</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7901865"/>
                  </a:ext>
                </a:extLst>
              </a:tr>
              <a:tr h="64449">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48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35.81621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35.14233</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19.64138</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4204131"/>
                  </a:ext>
                </a:extLst>
              </a:tr>
              <a:tr h="64449">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56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29.75248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dirty="0">
                          <a:solidFill>
                            <a:schemeClr val="tx1"/>
                          </a:solidFill>
                          <a:effectLst/>
                          <a:latin typeface="Arial" panose="020B0604020202020204" pitchFamily="34" charset="0"/>
                          <a:cs typeface="Arial" panose="020B0604020202020204" pitchFamily="34" charset="0"/>
                        </a:rPr>
                        <a:t>29.01033</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16.17312</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4758532"/>
                  </a:ext>
                </a:extLst>
              </a:tr>
              <a:tr h="64449">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57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33.38664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32.69128</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18.24014</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5054879"/>
                  </a:ext>
                </a:extLst>
              </a:tr>
              <a:tr h="64449">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36.97191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36.30209</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20.19479</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5382254"/>
                  </a:ext>
                </a:extLst>
              </a:tr>
              <a:tr h="64449">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65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0</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0.367695</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4985812"/>
                  </a:ext>
                </a:extLst>
              </a:tr>
              <a:tr h="64449">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66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0</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0.367695</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3238008"/>
                  </a:ext>
                </a:extLst>
              </a:tr>
              <a:tr h="64449">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67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0</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0.367695</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2899597"/>
                  </a:ext>
                </a:extLst>
              </a:tr>
              <a:tr h="64449">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68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0</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0.367695</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8970826"/>
                  </a:ext>
                </a:extLst>
              </a:tr>
              <a:tr h="64449">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69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0</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0.367695</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0653628"/>
                  </a:ext>
                </a:extLst>
              </a:tr>
              <a:tr h="64449">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70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0</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0.367695</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4279995"/>
                  </a:ext>
                </a:extLst>
              </a:tr>
              <a:tr h="64449">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71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0</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a:solidFill>
                            <a:schemeClr val="tx1"/>
                          </a:solidFill>
                          <a:effectLst/>
                          <a:latin typeface="Arial" panose="020B0604020202020204" pitchFamily="34" charset="0"/>
                          <a:cs typeface="Arial" panose="020B0604020202020204" pitchFamily="34" charset="0"/>
                        </a:rPr>
                        <a:t>0.367695</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5467192"/>
                  </a:ext>
                </a:extLst>
              </a:tr>
              <a:tr h="64449">
                <a:tc>
                  <a:txBody>
                    <a:bodyPr/>
                    <a:lstStyle/>
                    <a:p>
                      <a:pPr algn="ctr" fontAlgn="ctr">
                        <a:buNone/>
                      </a:pPr>
                      <a:r>
                        <a:rPr lang="en-US" sz="1200" b="0" i="0" u="none" strike="noStrike">
                          <a:solidFill>
                            <a:schemeClr val="tx1"/>
                          </a:solidFill>
                          <a:effectLst/>
                          <a:latin typeface="Arial" panose="020B0604020202020204" pitchFamily="34" charset="0"/>
                          <a:cs typeface="Arial" panose="020B0604020202020204" pitchFamily="34" charset="0"/>
                        </a:rPr>
                        <a:t>72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u="none" strike="noStrike" dirty="0">
                          <a:solidFill>
                            <a:schemeClr val="tx1"/>
                          </a:solidFill>
                          <a:effectLst/>
                          <a:latin typeface="Arial" panose="020B0604020202020204" pitchFamily="34" charset="0"/>
                          <a:cs typeface="Arial" panose="020B060402020202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dirty="0">
                          <a:solidFill>
                            <a:schemeClr val="tx1"/>
                          </a:solidFill>
                          <a:effectLst/>
                          <a:latin typeface="Arial" panose="020B0604020202020204" pitchFamily="34" charset="0"/>
                          <a:cs typeface="Arial" panose="020B0604020202020204" pitchFamily="34" charset="0"/>
                        </a:rPr>
                        <a:t>0</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b="0" i="0" u="none" strike="noStrike" dirty="0">
                          <a:solidFill>
                            <a:schemeClr val="tx1"/>
                          </a:solidFill>
                          <a:effectLst/>
                          <a:latin typeface="Arial" panose="020B0604020202020204" pitchFamily="34" charset="0"/>
                          <a:cs typeface="Arial" panose="020B0604020202020204" pitchFamily="34" charset="0"/>
                        </a:rPr>
                        <a:t>0.367695</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7840077"/>
                  </a:ext>
                </a:extLst>
              </a:tr>
            </a:tbl>
          </a:graphicData>
        </a:graphic>
      </p:graphicFrame>
      <p:pic>
        <p:nvPicPr>
          <p:cNvPr id="17" name="Picture 16">
            <a:extLst>
              <a:ext uri="{FF2B5EF4-FFF2-40B4-BE49-F238E27FC236}">
                <a16:creationId xmlns:a16="http://schemas.microsoft.com/office/drawing/2014/main" id="{B3FDC75A-DB44-6A10-87EE-263F56535086}"/>
              </a:ext>
            </a:extLst>
          </p:cNvPr>
          <p:cNvPicPr>
            <a:picLocks noChangeAspect="1"/>
          </p:cNvPicPr>
          <p:nvPr/>
        </p:nvPicPr>
        <p:blipFill>
          <a:blip r:embed="rId2"/>
          <a:stretch>
            <a:fillRect/>
          </a:stretch>
        </p:blipFill>
        <p:spPr>
          <a:xfrm>
            <a:off x="3449990" y="3429000"/>
            <a:ext cx="3098040" cy="1699997"/>
          </a:xfrm>
          <a:prstGeom prst="rect">
            <a:avLst/>
          </a:prstGeom>
        </p:spPr>
      </p:pic>
      <p:pic>
        <p:nvPicPr>
          <p:cNvPr id="19" name="Picture 18">
            <a:extLst>
              <a:ext uri="{FF2B5EF4-FFF2-40B4-BE49-F238E27FC236}">
                <a16:creationId xmlns:a16="http://schemas.microsoft.com/office/drawing/2014/main" id="{A43235BB-F06E-96CC-9B50-AAA3830D1B45}"/>
              </a:ext>
            </a:extLst>
          </p:cNvPr>
          <p:cNvPicPr>
            <a:picLocks noChangeAspect="1"/>
          </p:cNvPicPr>
          <p:nvPr/>
        </p:nvPicPr>
        <p:blipFill>
          <a:blip r:embed="rId3"/>
          <a:stretch>
            <a:fillRect/>
          </a:stretch>
        </p:blipFill>
        <p:spPr>
          <a:xfrm>
            <a:off x="221676" y="4334117"/>
            <a:ext cx="3098040" cy="1699997"/>
          </a:xfrm>
          <a:prstGeom prst="rect">
            <a:avLst/>
          </a:prstGeom>
        </p:spPr>
      </p:pic>
      <p:pic>
        <p:nvPicPr>
          <p:cNvPr id="21" name="Picture 20">
            <a:extLst>
              <a:ext uri="{FF2B5EF4-FFF2-40B4-BE49-F238E27FC236}">
                <a16:creationId xmlns:a16="http://schemas.microsoft.com/office/drawing/2014/main" id="{0485A850-D830-67BB-384E-AB1182E60105}"/>
              </a:ext>
            </a:extLst>
          </p:cNvPr>
          <p:cNvPicPr>
            <a:picLocks noChangeAspect="1"/>
          </p:cNvPicPr>
          <p:nvPr/>
        </p:nvPicPr>
        <p:blipFill>
          <a:blip r:embed="rId4"/>
          <a:stretch>
            <a:fillRect/>
          </a:stretch>
        </p:blipFill>
        <p:spPr>
          <a:xfrm>
            <a:off x="221675" y="2515171"/>
            <a:ext cx="3098041" cy="1699997"/>
          </a:xfrm>
          <a:prstGeom prst="rect">
            <a:avLst/>
          </a:prstGeom>
        </p:spPr>
      </p:pic>
    </p:spTree>
    <p:extLst>
      <p:ext uri="{BB962C8B-B14F-4D97-AF65-F5344CB8AC3E}">
        <p14:creationId xmlns:p14="http://schemas.microsoft.com/office/powerpoint/2010/main" val="1450420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19DE8-4B26-159D-519F-CEA138E4C975}"/>
              </a:ext>
            </a:extLst>
          </p:cNvPr>
          <p:cNvSpPr>
            <a:spLocks noGrp="1"/>
          </p:cNvSpPr>
          <p:nvPr>
            <p:ph type="title"/>
          </p:nvPr>
        </p:nvSpPr>
        <p:spPr>
          <a:xfrm>
            <a:off x="450273" y="315984"/>
            <a:ext cx="10515600" cy="730106"/>
          </a:xfrm>
        </p:spPr>
        <p:txBody>
          <a:bodyPr>
            <a:normAutofit/>
          </a:bodyPr>
          <a:lstStyle/>
          <a:p>
            <a:r>
              <a:rPr lang="en-US" sz="2000" dirty="0">
                <a:latin typeface="Arial" panose="020B0604020202020204" pitchFamily="34" charset="0"/>
                <a:cs typeface="Arial" panose="020B0604020202020204" pitchFamily="34" charset="0"/>
              </a:rPr>
              <a:t>7. Key Insights</a:t>
            </a:r>
          </a:p>
        </p:txBody>
      </p:sp>
      <p:sp>
        <p:nvSpPr>
          <p:cNvPr id="3" name="Content Placeholder 2">
            <a:extLst>
              <a:ext uri="{FF2B5EF4-FFF2-40B4-BE49-F238E27FC236}">
                <a16:creationId xmlns:a16="http://schemas.microsoft.com/office/drawing/2014/main" id="{F5ED4602-B963-477D-3267-DC883AE09957}"/>
              </a:ext>
            </a:extLst>
          </p:cNvPr>
          <p:cNvSpPr>
            <a:spLocks noGrp="1"/>
          </p:cNvSpPr>
          <p:nvPr>
            <p:ph idx="1"/>
          </p:nvPr>
        </p:nvSpPr>
        <p:spPr>
          <a:xfrm>
            <a:off x="551871" y="1046090"/>
            <a:ext cx="11399983" cy="5604092"/>
          </a:xfrm>
        </p:spPr>
        <p:txBody>
          <a:bodyPr>
            <a:noAutofit/>
          </a:bodyPr>
          <a:lstStyle/>
          <a:p>
            <a:pPr marL="0" indent="0">
              <a:lnSpc>
                <a:spcPct val="100000"/>
              </a:lnSpc>
              <a:buNone/>
            </a:pPr>
            <a:r>
              <a:rPr lang="en-US" sz="1200" b="1" dirty="0">
                <a:effectLst/>
                <a:latin typeface="Arial" panose="020B0604020202020204" pitchFamily="34" charset="0"/>
                <a:cs typeface="Arial" panose="020B0604020202020204" pitchFamily="34" charset="0"/>
              </a:rPr>
              <a:t>Goal:  What does your solution mean for the problem? What are the key observations you made from the solutions as applied to the problem? (max 3 slides)</a:t>
            </a:r>
          </a:p>
          <a:p>
            <a:pPr>
              <a:lnSpc>
                <a:spcPct val="100000"/>
              </a:lnSpc>
            </a:pPr>
            <a:r>
              <a:rPr lang="en-US" sz="1200" dirty="0">
                <a:effectLst/>
                <a:latin typeface="Arial" panose="020B0604020202020204" pitchFamily="34" charset="0"/>
                <a:cs typeface="Arial" panose="020B0604020202020204" pitchFamily="34" charset="0"/>
              </a:rPr>
              <a:t>Our solution identifies the </a:t>
            </a:r>
            <a:r>
              <a:rPr lang="en-US" sz="1200" b="1" dirty="0">
                <a:effectLst/>
                <a:latin typeface="Arial" panose="020B0604020202020204" pitchFamily="34" charset="0"/>
                <a:cs typeface="Arial" panose="020B0604020202020204" pitchFamily="34" charset="0"/>
              </a:rPr>
              <a:t>most relevant features (codes) </a:t>
            </a:r>
            <a:r>
              <a:rPr lang="en-US" sz="1200" dirty="0">
                <a:effectLst/>
                <a:latin typeface="Arial" panose="020B0604020202020204" pitchFamily="34" charset="0"/>
                <a:cs typeface="Arial" panose="020B0604020202020204" pitchFamily="34" charset="0"/>
              </a:rPr>
              <a:t>to determining the </a:t>
            </a:r>
            <a:r>
              <a:rPr lang="en-US" sz="1200" b="1" dirty="0">
                <a:effectLst/>
                <a:latin typeface="Arial" panose="020B0604020202020204" pitchFamily="34" charset="0"/>
                <a:cs typeface="Arial" panose="020B0604020202020204" pitchFamily="34" charset="0"/>
              </a:rPr>
              <a:t>blood glucose level</a:t>
            </a:r>
            <a:r>
              <a:rPr lang="en-US" sz="1200" dirty="0">
                <a:effectLst/>
                <a:latin typeface="Arial" panose="020B0604020202020204" pitchFamily="34" charset="0"/>
                <a:cs typeface="Arial" panose="020B0604020202020204" pitchFamily="34" charset="0"/>
              </a:rPr>
              <a:t>. </a:t>
            </a:r>
          </a:p>
          <a:p>
            <a:pPr>
              <a:lnSpc>
                <a:spcPct val="100000"/>
              </a:lnSpc>
            </a:pPr>
            <a:r>
              <a:rPr lang="en-US" sz="1200" dirty="0">
                <a:effectLst/>
                <a:latin typeface="Arial" panose="020B0604020202020204" pitchFamily="34" charset="0"/>
                <a:cs typeface="Arial" panose="020B0604020202020204" pitchFamily="34" charset="0"/>
              </a:rPr>
              <a:t>We need to compute the accuracy of our model:</a:t>
            </a:r>
          </a:p>
          <a:p>
            <a:pPr lvl="1">
              <a:lnSpc>
                <a:spcPct val="100000"/>
              </a:lnSpc>
            </a:pPr>
            <a:r>
              <a:rPr lang="en-US" sz="800" dirty="0">
                <a:effectLst/>
                <a:latin typeface="Arial" panose="020B0604020202020204" pitchFamily="34" charset="0"/>
                <a:cs typeface="Arial" panose="020B0604020202020204" pitchFamily="34" charset="0"/>
              </a:rPr>
              <a:t>We split the data into training and testing </a:t>
            </a:r>
          </a:p>
          <a:p>
            <a:pPr lvl="1">
              <a:lnSpc>
                <a:spcPct val="100000"/>
              </a:lnSpc>
            </a:pPr>
            <a:r>
              <a:rPr lang="en-US" sz="800" dirty="0">
                <a:effectLst/>
                <a:latin typeface="Arial" panose="020B0604020202020204" pitchFamily="34" charset="0"/>
                <a:cs typeface="Arial" panose="020B0604020202020204" pitchFamily="34" charset="0"/>
              </a:rPr>
              <a:t>We just need to run the testing </a:t>
            </a:r>
            <a:r>
              <a:rPr lang="en-US" sz="800" dirty="0" err="1">
                <a:effectLst/>
                <a:latin typeface="Arial" panose="020B0604020202020204" pitchFamily="34" charset="0"/>
                <a:cs typeface="Arial" panose="020B0604020202020204" pitchFamily="34" charset="0"/>
              </a:rPr>
              <a:t>predctions</a:t>
            </a:r>
            <a:r>
              <a:rPr lang="en-US" sz="800" dirty="0">
                <a:effectLst/>
                <a:latin typeface="Arial" panose="020B0604020202020204" pitchFamily="34" charset="0"/>
                <a:cs typeface="Arial" panose="020B0604020202020204" pitchFamily="34" charset="0"/>
              </a:rPr>
              <a:t> </a:t>
            </a:r>
          </a:p>
          <a:p>
            <a:pPr>
              <a:lnSpc>
                <a:spcPct val="100000"/>
              </a:lnSpc>
            </a:pPr>
            <a:r>
              <a:rPr lang="en-US" sz="1200" dirty="0">
                <a:solidFill>
                  <a:srgbClr val="FF0000"/>
                </a:solidFill>
                <a:effectLst/>
                <a:latin typeface="Arial" panose="020B0604020202020204" pitchFamily="34" charset="0"/>
                <a:cs typeface="Arial" panose="020B0604020202020204" pitchFamily="34" charset="0"/>
              </a:rPr>
              <a:t>Ahmad – look at using PCA to identifying them most relevant codes to blood glucose level. </a:t>
            </a:r>
          </a:p>
        </p:txBody>
      </p:sp>
    </p:spTree>
    <p:extLst>
      <p:ext uri="{BB962C8B-B14F-4D97-AF65-F5344CB8AC3E}">
        <p14:creationId xmlns:p14="http://schemas.microsoft.com/office/powerpoint/2010/main" val="1023218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96A28-FDEA-BC33-31EC-35E73B294FAC}"/>
              </a:ext>
            </a:extLst>
          </p:cNvPr>
          <p:cNvSpPr>
            <a:spLocks noGrp="1"/>
          </p:cNvSpPr>
          <p:nvPr>
            <p:ph type="title"/>
          </p:nvPr>
        </p:nvSpPr>
        <p:spPr>
          <a:xfrm>
            <a:off x="394854" y="471054"/>
            <a:ext cx="10515600" cy="563852"/>
          </a:xfrm>
        </p:spPr>
        <p:txBody>
          <a:bodyPr>
            <a:normAutofit/>
          </a:bodyPr>
          <a:lstStyle/>
          <a:p>
            <a:r>
              <a:rPr lang="en-US" sz="2000" dirty="0">
                <a:latin typeface="Arial" panose="020B0604020202020204" pitchFamily="34" charset="0"/>
                <a:cs typeface="Arial" panose="020B0604020202020204" pitchFamily="34" charset="0"/>
              </a:rPr>
              <a:t>8. Major Conclusions</a:t>
            </a:r>
          </a:p>
        </p:txBody>
      </p:sp>
      <p:sp>
        <p:nvSpPr>
          <p:cNvPr id="3" name="Content Placeholder 2">
            <a:extLst>
              <a:ext uri="{FF2B5EF4-FFF2-40B4-BE49-F238E27FC236}">
                <a16:creationId xmlns:a16="http://schemas.microsoft.com/office/drawing/2014/main" id="{BCD3E9BC-E506-5351-3C82-92A845CBE972}"/>
              </a:ext>
            </a:extLst>
          </p:cNvPr>
          <p:cNvSpPr>
            <a:spLocks noGrp="1"/>
          </p:cNvSpPr>
          <p:nvPr>
            <p:ph idx="1"/>
          </p:nvPr>
        </p:nvSpPr>
        <p:spPr>
          <a:xfrm>
            <a:off x="394853" y="1188316"/>
            <a:ext cx="11510819" cy="5406448"/>
          </a:xfrm>
        </p:spPr>
        <p:txBody>
          <a:bodyPr>
            <a:noAutofit/>
          </a:bodyPr>
          <a:lstStyle/>
          <a:p>
            <a:pPr marL="0" indent="0">
              <a:lnSpc>
                <a:spcPct val="100000"/>
              </a:lnSpc>
              <a:buNone/>
            </a:pPr>
            <a:r>
              <a:rPr lang="en-US" sz="1200" b="1" dirty="0">
                <a:effectLst/>
                <a:latin typeface="Arial" panose="020B0604020202020204" pitchFamily="34" charset="0"/>
                <a:cs typeface="Arial" panose="020B0604020202020204" pitchFamily="34" charset="0"/>
              </a:rPr>
              <a:t>Goal: was your approach viable? Did you run into any difficulties such as infeasibility, numerical instability, unexpected results, etc. (2 slide)</a:t>
            </a:r>
            <a:r>
              <a:rPr lang="en-US" sz="1200" dirty="0">
                <a:effectLst/>
                <a:latin typeface="Arial" panose="020B0604020202020204" pitchFamily="34" charset="0"/>
                <a:cs typeface="Arial" panose="020B0604020202020204" pitchFamily="34" charset="0"/>
              </a:rPr>
              <a:t> </a:t>
            </a:r>
          </a:p>
          <a:p>
            <a:pPr>
              <a:lnSpc>
                <a:spcPct val="100000"/>
              </a:lnSpc>
            </a:pPr>
            <a:r>
              <a:rPr lang="en-US" sz="1200" b="1" dirty="0">
                <a:effectLst/>
                <a:latin typeface="Arial" panose="020B0604020202020204" pitchFamily="34" charset="0"/>
                <a:cs typeface="Arial" panose="020B0604020202020204" pitchFamily="34" charset="0"/>
              </a:rPr>
              <a:t>xxx</a:t>
            </a:r>
          </a:p>
        </p:txBody>
      </p:sp>
    </p:spTree>
    <p:extLst>
      <p:ext uri="{BB962C8B-B14F-4D97-AF65-F5344CB8AC3E}">
        <p14:creationId xmlns:p14="http://schemas.microsoft.com/office/powerpoint/2010/main" val="3210933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470BA-B553-ACE0-C544-3A8D68AC8737}"/>
              </a:ext>
            </a:extLst>
          </p:cNvPr>
          <p:cNvSpPr>
            <a:spLocks noGrp="1"/>
          </p:cNvSpPr>
          <p:nvPr>
            <p:ph type="title"/>
          </p:nvPr>
        </p:nvSpPr>
        <p:spPr>
          <a:xfrm>
            <a:off x="394854" y="245053"/>
            <a:ext cx="10515600" cy="687820"/>
          </a:xfrm>
        </p:spPr>
        <p:txBody>
          <a:bodyPr>
            <a:normAutofit/>
          </a:bodyPr>
          <a:lstStyle/>
          <a:p>
            <a:r>
              <a:rPr lang="en-US" sz="2000" dirty="0">
                <a:latin typeface="Arial" panose="020B0604020202020204" pitchFamily="34" charset="0"/>
                <a:cs typeface="Arial" panose="020B0604020202020204" pitchFamily="34" charset="0"/>
              </a:rPr>
              <a:t>9. Suggestions for Improvement and Future Work - </a:t>
            </a:r>
            <a:r>
              <a:rPr lang="en-US" sz="2000" dirty="0">
                <a:solidFill>
                  <a:srgbClr val="FF0000"/>
                </a:solidFill>
                <a:latin typeface="Arial" panose="020B0604020202020204" pitchFamily="34" charset="0"/>
                <a:cs typeface="Arial" panose="020B0604020202020204" pitchFamily="34" charset="0"/>
              </a:rPr>
              <a:t>Ahmad</a:t>
            </a:r>
          </a:p>
        </p:txBody>
      </p:sp>
      <p:sp>
        <p:nvSpPr>
          <p:cNvPr id="3" name="Content Placeholder 2">
            <a:extLst>
              <a:ext uri="{FF2B5EF4-FFF2-40B4-BE49-F238E27FC236}">
                <a16:creationId xmlns:a16="http://schemas.microsoft.com/office/drawing/2014/main" id="{3B087C1F-BAB1-161F-7774-8E96B7C297F8}"/>
              </a:ext>
            </a:extLst>
          </p:cNvPr>
          <p:cNvSpPr>
            <a:spLocks noGrp="1"/>
          </p:cNvSpPr>
          <p:nvPr>
            <p:ph idx="1"/>
          </p:nvPr>
        </p:nvSpPr>
        <p:spPr>
          <a:xfrm>
            <a:off x="394854" y="932873"/>
            <a:ext cx="11547764" cy="5430982"/>
          </a:xfrm>
        </p:spPr>
        <p:txBody>
          <a:bodyPr>
            <a:noAutofit/>
          </a:bodyPr>
          <a:lstStyle/>
          <a:p>
            <a:pPr marL="0" indent="0">
              <a:lnSpc>
                <a:spcPct val="100000"/>
              </a:lnSpc>
              <a:buNone/>
            </a:pPr>
            <a:r>
              <a:rPr lang="en-US" sz="1200" b="1" dirty="0">
                <a:effectLst/>
                <a:latin typeface="Arial" panose="020B0604020202020204" pitchFamily="34" charset="0"/>
                <a:cs typeface="Arial" panose="020B0604020202020204" pitchFamily="34" charset="0"/>
              </a:rPr>
              <a:t>Goal:  if you had more time and resources what would you have done to solve the problem? e.g., considered a more realistic model, used a larger dataset, implemented a working prototype, launched a startup and become a billionaire! (1 slide)</a:t>
            </a:r>
          </a:p>
          <a:p>
            <a:pPr>
              <a:lnSpc>
                <a:spcPct val="100000"/>
              </a:lnSpc>
            </a:pPr>
            <a:r>
              <a:rPr lang="en-US" sz="1200" dirty="0">
                <a:effectLst/>
                <a:latin typeface="Arial" panose="020B0604020202020204" pitchFamily="34" charset="0"/>
                <a:cs typeface="Arial" panose="020B0604020202020204" pitchFamily="34" charset="0"/>
              </a:rPr>
              <a:t>xxx</a:t>
            </a:r>
          </a:p>
        </p:txBody>
      </p:sp>
    </p:spTree>
    <p:extLst>
      <p:ext uri="{BB962C8B-B14F-4D97-AF65-F5344CB8AC3E}">
        <p14:creationId xmlns:p14="http://schemas.microsoft.com/office/powerpoint/2010/main" val="14747349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0812B-44DD-584E-D37A-1AF5EFCC9A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BF3B88-D56A-0DD0-B597-D5F0E7ECD3F2}"/>
              </a:ext>
            </a:extLst>
          </p:cNvPr>
          <p:cNvSpPr>
            <a:spLocks noGrp="1"/>
          </p:cNvSpPr>
          <p:nvPr>
            <p:ph type="title"/>
          </p:nvPr>
        </p:nvSpPr>
        <p:spPr>
          <a:xfrm>
            <a:off x="191653" y="160542"/>
            <a:ext cx="11778673" cy="583766"/>
          </a:xfrm>
        </p:spPr>
        <p:txBody>
          <a:bodyPr>
            <a:normAutofit/>
          </a:bodyPr>
          <a:lstStyle/>
          <a:p>
            <a:pPr>
              <a:lnSpc>
                <a:spcPts val="1200"/>
              </a:lnSpc>
            </a:pPr>
            <a:r>
              <a:rPr lang="en-US" sz="2000" b="1" dirty="0">
                <a:latin typeface="Arial" panose="020B0604020202020204" pitchFamily="34" charset="0"/>
                <a:cs typeface="Arial" panose="020B0604020202020204" pitchFamily="34" charset="0"/>
              </a:rPr>
              <a:t>Overview of the data (per the domain description file):</a:t>
            </a:r>
            <a:endParaRPr lang="en-US" sz="2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037BA54-CA38-0B63-AAAA-FEB9182D1E84}"/>
              </a:ext>
            </a:extLst>
          </p:cNvPr>
          <p:cNvSpPr>
            <a:spLocks noGrp="1"/>
          </p:cNvSpPr>
          <p:nvPr>
            <p:ph idx="1"/>
          </p:nvPr>
        </p:nvSpPr>
        <p:spPr>
          <a:xfrm>
            <a:off x="191653" y="810196"/>
            <a:ext cx="11778673" cy="5895975"/>
          </a:xfrm>
        </p:spPr>
        <p:txBody>
          <a:bodyPr>
            <a:noAutofit/>
          </a:bodyPr>
          <a:lstStyle/>
          <a:p>
            <a:pPr>
              <a:lnSpc>
                <a:spcPct val="100000"/>
              </a:lnSpc>
            </a:pPr>
            <a:r>
              <a:rPr lang="en-US" sz="1000" dirty="0">
                <a:effectLst/>
                <a:latin typeface="Arial" panose="020B0604020202020204" pitchFamily="34" charset="0"/>
                <a:cs typeface="Arial" panose="020B0604020202020204" pitchFamily="34" charset="0"/>
              </a:rPr>
              <a:t>Patients with IDDM are insulin deficient. This can either be due to a) low or absent production of insulin by the beta islet cells of the pancreas subsequent to an auto-immune attack or b) insulin-resistance, typically associated with older age and obesity, which leads to a relative insulin-deficiency even though the insulin levels might be normal. Regardless of cause, the lack of adequate insulin effect has multiple metabolic effects. However, once a patient is diagnosed and is receiving regularly scheduled exogenous (externally administered) insulin, the principal metabolic effect of concern is the potential for hyperglycemia (high blood glucose). Chronic hyperglycemia over a period of several years puts a patient at risk for several kinds of micro and macrovascular problems (e.g. retinopathy). Consequently, the goal of therapy for IDDM is to bring the average blood glucose as close to the normal range as possible. As explained below, current therapy makes this goal a very challenging (and often frustrating) one for most patients. One important consideration is that due to the inevitable variation of blood glucose (BG) around the mean, a lower mean will result in a higher frequency of unpleasant and sometimes dangerous low BG levels. </a:t>
            </a:r>
          </a:p>
          <a:p>
            <a:pPr>
              <a:lnSpc>
                <a:spcPct val="100000"/>
              </a:lnSpc>
            </a:pPr>
            <a:r>
              <a:rPr lang="en-US" sz="1000" b="1" dirty="0">
                <a:effectLst/>
                <a:latin typeface="Arial" panose="020B0604020202020204" pitchFamily="34" charset="0"/>
                <a:cs typeface="Arial" panose="020B0604020202020204" pitchFamily="34" charset="0"/>
              </a:rPr>
              <a:t>Outpatient management</a:t>
            </a:r>
            <a:r>
              <a:rPr lang="en-US" sz="1000" dirty="0">
                <a:effectLst/>
                <a:latin typeface="Arial" panose="020B0604020202020204" pitchFamily="34" charset="0"/>
                <a:cs typeface="Arial" panose="020B0604020202020204" pitchFamily="34" charset="0"/>
              </a:rPr>
              <a:t>. Outpatient management of IDDM </a:t>
            </a:r>
            <a:r>
              <a:rPr lang="en-US" sz="1000" b="1" dirty="0">
                <a:effectLst/>
                <a:latin typeface="Arial" panose="020B0604020202020204" pitchFamily="34" charset="0"/>
                <a:cs typeface="Arial" panose="020B0604020202020204" pitchFamily="34" charset="0"/>
              </a:rPr>
              <a:t>relies principally on three interventions: diet, </a:t>
            </a:r>
            <a:r>
              <a:rPr lang="en-US" sz="1000" b="1" dirty="0" err="1">
                <a:effectLst/>
                <a:latin typeface="Arial" panose="020B0604020202020204" pitchFamily="34" charset="0"/>
                <a:cs typeface="Arial" panose="020B0604020202020204" pitchFamily="34" charset="0"/>
              </a:rPr>
              <a:t>excercise</a:t>
            </a:r>
            <a:r>
              <a:rPr lang="en-US" sz="1000" b="1" dirty="0">
                <a:effectLst/>
                <a:latin typeface="Arial" panose="020B0604020202020204" pitchFamily="34" charset="0"/>
                <a:cs typeface="Arial" panose="020B0604020202020204" pitchFamily="34" charset="0"/>
              </a:rPr>
              <a:t> and exogenous insulin</a:t>
            </a:r>
            <a:r>
              <a:rPr lang="en-US" sz="1000" dirty="0">
                <a:effectLst/>
                <a:latin typeface="Arial" panose="020B0604020202020204" pitchFamily="34" charset="0"/>
                <a:cs typeface="Arial" panose="020B0604020202020204" pitchFamily="34" charset="0"/>
              </a:rPr>
              <a:t>. Proper treatment requires careful consideration of all three interventions. This is basically our target variable, measured by seeking to bring glucose levels to within normal range (e.g., mean).</a:t>
            </a:r>
          </a:p>
          <a:p>
            <a:pPr>
              <a:lnSpc>
                <a:spcPct val="100000"/>
              </a:lnSpc>
            </a:pPr>
            <a:r>
              <a:rPr lang="en-US" sz="1000" b="1" dirty="0">
                <a:effectLst/>
                <a:latin typeface="Arial" panose="020B0604020202020204" pitchFamily="34" charset="0"/>
                <a:cs typeface="Arial" panose="020B0604020202020204" pitchFamily="34" charset="0"/>
              </a:rPr>
              <a:t>INSULIN</a:t>
            </a:r>
            <a:r>
              <a:rPr lang="en-US" sz="1000" dirty="0">
                <a:effectLst/>
                <a:latin typeface="Arial" panose="020B0604020202020204" pitchFamily="34" charset="0"/>
                <a:cs typeface="Arial" panose="020B0604020202020204" pitchFamily="34" charset="0"/>
              </a:rPr>
              <a:t> One of insulin's principal effects is to increase the uptake of glucose in many of the tissues (e.g. in adipose/fat tissue) and thereby reduce the concentration glucose in blood.  Patients with IDDM administer insulin to themselves by subcutaneous injection. Insulin doses are given one or more times a day, typically before meals and sometimes also at bedtime. Many insulin regimens are devised to have the peak insulin action coincide with the peak rise in BG during meals. In order to achieve this, a combination of several preparations of insulin may be administered. Each insulin formulation has its own characteristic time of onset of effect (O), time of peak action (P) and effective duration (D). These times can be significantly affected by many factors such as the site of injection (e.g. much more rapid absorption in the abdomen than in the thigh) or whether the insulin is a human insulin or an animal extract. The times I have listed below are rough approximations and I am sure that I could find an endocrinologist with different estimates. </a:t>
            </a:r>
          </a:p>
          <a:p>
            <a:pPr lvl="1">
              <a:lnSpc>
                <a:spcPct val="100000"/>
              </a:lnSpc>
            </a:pPr>
            <a:r>
              <a:rPr lang="en-US" sz="1000" dirty="0">
                <a:effectLst/>
                <a:latin typeface="Arial" panose="020B0604020202020204" pitchFamily="34" charset="0"/>
                <a:cs typeface="Arial" panose="020B0604020202020204" pitchFamily="34" charset="0"/>
              </a:rPr>
              <a:t>Regular Insulin: O 15-45 minutes P 1-3 hours D 4-6 hours</a:t>
            </a:r>
          </a:p>
          <a:p>
            <a:pPr lvl="1">
              <a:lnSpc>
                <a:spcPct val="100000"/>
              </a:lnSpc>
            </a:pPr>
            <a:r>
              <a:rPr lang="en-US" sz="1000" dirty="0">
                <a:effectLst/>
                <a:latin typeface="Arial" panose="020B0604020202020204" pitchFamily="34" charset="0"/>
                <a:cs typeface="Arial" panose="020B0604020202020204" pitchFamily="34" charset="0"/>
              </a:rPr>
              <a:t>NPH Insulin: O 1-3 hours P 4-6 hours D: 10-14 hours</a:t>
            </a:r>
          </a:p>
          <a:p>
            <a:pPr lvl="1">
              <a:lnSpc>
                <a:spcPct val="100000"/>
              </a:lnSpc>
            </a:pPr>
            <a:r>
              <a:rPr lang="en-US" sz="1000" dirty="0" err="1">
                <a:effectLst/>
                <a:latin typeface="Arial" panose="020B0604020202020204" pitchFamily="34" charset="0"/>
                <a:cs typeface="Arial" panose="020B0604020202020204" pitchFamily="34" charset="0"/>
              </a:rPr>
              <a:t>Ultralente</a:t>
            </a:r>
            <a:r>
              <a:rPr lang="en-US" sz="1000" dirty="0">
                <a:effectLst/>
                <a:latin typeface="Arial" panose="020B0604020202020204" pitchFamily="34" charset="0"/>
                <a:cs typeface="Arial" panose="020B0604020202020204" pitchFamily="34" charset="0"/>
              </a:rPr>
              <a:t>: O: 2-5 hours. P (not much of a peak) D 24-30 hours.</a:t>
            </a:r>
          </a:p>
          <a:p>
            <a:pPr>
              <a:lnSpc>
                <a:spcPct val="100000"/>
              </a:lnSpc>
            </a:pPr>
            <a:r>
              <a:rPr lang="en-US" sz="1000" b="1" dirty="0">
                <a:effectLst/>
                <a:latin typeface="Arial" panose="020B0604020202020204" pitchFamily="34" charset="0"/>
                <a:cs typeface="Arial" panose="020B0604020202020204" pitchFamily="34" charset="0"/>
              </a:rPr>
              <a:t>EXERCISE</a:t>
            </a:r>
            <a:r>
              <a:rPr lang="en-US" sz="1000" dirty="0">
                <a:effectLst/>
                <a:latin typeface="Arial" panose="020B0604020202020204" pitchFamily="34" charset="0"/>
                <a:cs typeface="Arial" panose="020B0604020202020204" pitchFamily="34" charset="0"/>
              </a:rPr>
              <a:t> </a:t>
            </a:r>
            <a:r>
              <a:rPr lang="en-US" sz="1000" dirty="0" err="1">
                <a:effectLst/>
                <a:latin typeface="Arial" panose="020B0604020202020204" pitchFamily="34" charset="0"/>
                <a:cs typeface="Arial" panose="020B0604020202020204" pitchFamily="34" charset="0"/>
              </a:rPr>
              <a:t>Exercise</a:t>
            </a:r>
            <a:r>
              <a:rPr lang="en-US" sz="1000" dirty="0">
                <a:effectLst/>
                <a:latin typeface="Arial" panose="020B0604020202020204" pitchFamily="34" charset="0"/>
                <a:cs typeface="Arial" panose="020B0604020202020204" pitchFamily="34" charset="0"/>
              </a:rPr>
              <a:t> appears to have multiple effects on BG control. Two important effects are: increased caloric expenditure and a possibly independent increase in the sensitivity of tissues to insulin action.  BG can fall during exercise but also quite a few hours afterwards. For instance, strenuous exercise in the mid-afternoon can be associated with low BG after dinner. Also, too strenuous exercise with associated mild dehydration can lead to a transient increase in BG.</a:t>
            </a:r>
          </a:p>
          <a:p>
            <a:pPr>
              <a:lnSpc>
                <a:spcPct val="100000"/>
              </a:lnSpc>
            </a:pPr>
            <a:r>
              <a:rPr lang="en-US" sz="1000" b="1" dirty="0">
                <a:effectLst/>
                <a:latin typeface="Arial" panose="020B0604020202020204" pitchFamily="34" charset="0"/>
                <a:cs typeface="Arial" panose="020B0604020202020204" pitchFamily="34" charset="0"/>
              </a:rPr>
              <a:t>DIET</a:t>
            </a:r>
            <a:r>
              <a:rPr lang="en-US" sz="1000" dirty="0">
                <a:effectLst/>
                <a:latin typeface="Arial" panose="020B0604020202020204" pitchFamily="34" charset="0"/>
                <a:cs typeface="Arial" panose="020B0604020202020204" pitchFamily="34" charset="0"/>
              </a:rPr>
              <a:t>. Another vast subject but (suffice it to say for the purposes of users of the data set) in brief: a larger meal will lead to a longer and possibly higher elevation of blood glucose. The actual effect depends on a host of variables, notably the kind of food ingested. For instance, fat causes delayed emptying of the stomach and therefore a slower rise in BG than a starchy meal without fat. Missing a meal or eating a meal of smaller than usual size will put the patient at risk for low BG in the hours that follow the meal.</a:t>
            </a:r>
          </a:p>
          <a:p>
            <a:pPr>
              <a:lnSpc>
                <a:spcPct val="100000"/>
              </a:lnSpc>
            </a:pPr>
            <a:r>
              <a:rPr lang="en-US" sz="1000" dirty="0">
                <a:effectLst/>
                <a:latin typeface="Arial" panose="020B0604020202020204" pitchFamily="34" charset="0"/>
                <a:cs typeface="Arial" panose="020B0604020202020204" pitchFamily="34" charset="0"/>
              </a:rPr>
              <a:t>GLUCOSE CONCENTRATIONS. BG concentration will vary even in individuals with normal pancreatic hormonal function.  A normal pre-meal BG ranges approximately 80-120 mg/dl. A normal post-meal BG ranges 80-140 mg/dl. The target range for an individual with diabetes mellitus is very controversial. I will cut the Gordian knot on this issue by noting that it would be very desirable to keep 90% of all BG measurements &lt; 200 mg/dl and that the average BG should be 150 mg/dl or less. Note that it  takes a lot of work, attention and (painful) BG checks to reach this target range. Conversely, an average BG &gt; 200 (over several years) is associated with a poor long-term outcome. That is, the risk of vascular complications of the high BG is </a:t>
            </a:r>
            <a:r>
              <a:rPr lang="en-US" sz="1000" dirty="0" err="1">
                <a:effectLst/>
                <a:latin typeface="Arial" panose="020B0604020202020204" pitchFamily="34" charset="0"/>
                <a:cs typeface="Arial" panose="020B0604020202020204" pitchFamily="34" charset="0"/>
              </a:rPr>
              <a:t>signicantly</a:t>
            </a:r>
            <a:r>
              <a:rPr lang="en-US" sz="1000" dirty="0">
                <a:effectLst/>
                <a:latin typeface="Arial" panose="020B0604020202020204" pitchFamily="34" charset="0"/>
                <a:cs typeface="Arial" panose="020B0604020202020204" pitchFamily="34" charset="0"/>
              </a:rPr>
              <a:t> elevated.</a:t>
            </a:r>
          </a:p>
          <a:p>
            <a:pPr>
              <a:lnSpc>
                <a:spcPct val="100000"/>
              </a:lnSpc>
            </a:pPr>
            <a:r>
              <a:rPr lang="en-US" sz="1000" dirty="0">
                <a:effectLst/>
                <a:latin typeface="Arial" panose="020B0604020202020204" pitchFamily="34" charset="0"/>
                <a:cs typeface="Arial" panose="020B0604020202020204" pitchFamily="34" charset="0"/>
              </a:rPr>
              <a:t>Hypoglycemic (low BG) symptoms fall into two classes. Between 40-80 mg/dl, the patient feels the effect off the adrenal hormone epinephrine as the BG regulation systems attempt to reverse the low BG.  These so-called adrenergic symptoms (headache, abdominal pain, sweating) are useful, if unpleasant, cues to the patient that their BG is falling dangerously. Below 40 mg/dl, the patient's brain is inadequately supplied with glucose and the symptoms become those of poor brain function (neuroglycopenic symptoms). These include: lethargy, weakness, disorientation, seizures and passing out.</a:t>
            </a:r>
          </a:p>
        </p:txBody>
      </p:sp>
    </p:spTree>
    <p:extLst>
      <p:ext uri="{BB962C8B-B14F-4D97-AF65-F5344CB8AC3E}">
        <p14:creationId xmlns:p14="http://schemas.microsoft.com/office/powerpoint/2010/main" val="31679312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19119-2905-570E-4248-BF02950F7F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E338F5-3214-3529-2349-D6A92CDD5785}"/>
              </a:ext>
            </a:extLst>
          </p:cNvPr>
          <p:cNvSpPr>
            <a:spLocks noGrp="1"/>
          </p:cNvSpPr>
          <p:nvPr>
            <p:ph type="title"/>
          </p:nvPr>
        </p:nvSpPr>
        <p:spPr>
          <a:xfrm>
            <a:off x="191653" y="23382"/>
            <a:ext cx="11778673" cy="583766"/>
          </a:xfrm>
        </p:spPr>
        <p:txBody>
          <a:bodyPr>
            <a:normAutofit/>
          </a:bodyPr>
          <a:lstStyle/>
          <a:p>
            <a:pPr>
              <a:lnSpc>
                <a:spcPts val="1200"/>
              </a:lnSpc>
            </a:pPr>
            <a:r>
              <a:rPr lang="en-US" sz="2000" b="1" dirty="0">
                <a:latin typeface="Arial" panose="020B0604020202020204" pitchFamily="34" charset="0"/>
                <a:cs typeface="Arial" panose="020B0604020202020204" pitchFamily="34" charset="0"/>
              </a:rPr>
              <a:t>References and Supporting Material</a:t>
            </a:r>
            <a:endParaRPr lang="en-US" sz="2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FEDA713-7E3C-21DA-DF9C-6357E27C895D}"/>
              </a:ext>
            </a:extLst>
          </p:cNvPr>
          <p:cNvSpPr>
            <a:spLocks noGrp="1"/>
          </p:cNvSpPr>
          <p:nvPr>
            <p:ph idx="1"/>
          </p:nvPr>
        </p:nvSpPr>
        <p:spPr>
          <a:xfrm>
            <a:off x="163944" y="514785"/>
            <a:ext cx="11778673" cy="5895975"/>
          </a:xfrm>
        </p:spPr>
        <p:txBody>
          <a:bodyPr>
            <a:noAutofit/>
          </a:bodyPr>
          <a:lstStyle/>
          <a:p>
            <a:pPr marL="0" indent="0">
              <a:lnSpc>
                <a:spcPct val="100000"/>
              </a:lnSpc>
              <a:buNone/>
            </a:pPr>
            <a:r>
              <a:rPr lang="en-US" sz="1200" b="1" dirty="0">
                <a:effectLst/>
                <a:latin typeface="Arial" panose="020B0604020202020204" pitchFamily="34" charset="0"/>
                <a:cs typeface="Arial" panose="020B0604020202020204" pitchFamily="34" charset="0"/>
              </a:rPr>
              <a:t>Helpful python libraries: </a:t>
            </a:r>
          </a:p>
          <a:p>
            <a:pPr>
              <a:lnSpc>
                <a:spcPct val="100000"/>
              </a:lnSpc>
            </a:pPr>
            <a:r>
              <a:rPr lang="en-US" sz="1200" dirty="0">
                <a:effectLst/>
                <a:latin typeface="Arial" panose="020B0604020202020204" pitchFamily="34" charset="0"/>
                <a:cs typeface="Arial" panose="020B0604020202020204" pitchFamily="34" charset="0"/>
              </a:rPr>
              <a:t>Data compression: </a:t>
            </a:r>
            <a:r>
              <a:rPr lang="en-US" sz="1200" dirty="0">
                <a:effectLst/>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https://pypi.org/project/ncompress/</a:t>
            </a:r>
            <a:r>
              <a:rPr lang="en-US" sz="1200" dirty="0">
                <a:effectLst/>
                <a:latin typeface="Arial" panose="020B0604020202020204" pitchFamily="34" charset="0"/>
                <a:cs typeface="Arial" panose="020B0604020202020204" pitchFamily="34" charset="0"/>
              </a:rPr>
              <a:t> </a:t>
            </a:r>
          </a:p>
          <a:p>
            <a:pPr>
              <a:lnSpc>
                <a:spcPct val="100000"/>
              </a:lnSpc>
            </a:pPr>
            <a:r>
              <a:rPr lang="en-US" sz="1200" dirty="0">
                <a:effectLst/>
                <a:latin typeface="Arial" panose="020B0604020202020204" pitchFamily="34" charset="0"/>
                <a:cs typeface="Arial" panose="020B0604020202020204" pitchFamily="34" charset="0"/>
              </a:rPr>
              <a:t>Tarfile library: </a:t>
            </a:r>
            <a:r>
              <a:rPr lang="en-US" sz="1200" dirty="0">
                <a:effectLst/>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https://docs.python.org/3/library/tarfile.html</a:t>
            </a:r>
            <a:r>
              <a:rPr lang="en-US" sz="1200" dirty="0">
                <a:effectLst/>
                <a:latin typeface="Arial" panose="020B0604020202020204" pitchFamily="34" charset="0"/>
                <a:cs typeface="Arial" panose="020B0604020202020204" pitchFamily="34" charset="0"/>
              </a:rPr>
              <a:t> </a:t>
            </a:r>
          </a:p>
          <a:p>
            <a:pPr marL="0" indent="0">
              <a:lnSpc>
                <a:spcPct val="100000"/>
              </a:lnSpc>
              <a:buNone/>
            </a:pPr>
            <a:endParaRPr lang="en-US" sz="1200" dirty="0">
              <a:effectLst/>
              <a:latin typeface="Arial" panose="020B0604020202020204" pitchFamily="34" charset="0"/>
              <a:cs typeface="Arial" panose="020B0604020202020204" pitchFamily="34" charset="0"/>
            </a:endParaRPr>
          </a:p>
          <a:p>
            <a:pPr marL="0" indent="0">
              <a:lnSpc>
                <a:spcPct val="100000"/>
              </a:lnSpc>
              <a:buNone/>
            </a:pPr>
            <a:r>
              <a:rPr lang="en-US" sz="1200" b="1" dirty="0">
                <a:effectLst/>
                <a:latin typeface="Arial" panose="020B0604020202020204" pitchFamily="34" charset="0"/>
                <a:cs typeface="Arial" panose="020B0604020202020204" pitchFamily="34" charset="0"/>
              </a:rPr>
              <a:t>Definitions of Codes: </a:t>
            </a:r>
          </a:p>
          <a:p>
            <a:pPr>
              <a:lnSpc>
                <a:spcPct val="100000"/>
              </a:lnSpc>
            </a:pPr>
            <a:r>
              <a:rPr lang="en-US" sz="1200" dirty="0">
                <a:effectLst/>
                <a:latin typeface="Arial" panose="020B0604020202020204" pitchFamily="34" charset="0"/>
                <a:cs typeface="Arial" panose="020B0604020202020204" pitchFamily="34" charset="0"/>
              </a:rPr>
              <a:t>Glucose level codes:</a:t>
            </a:r>
          </a:p>
          <a:p>
            <a:pPr lvl="1">
              <a:lnSpc>
                <a:spcPct val="100000"/>
              </a:lnSpc>
            </a:pPr>
            <a:r>
              <a:rPr lang="en-US" sz="1200" dirty="0">
                <a:effectLst/>
                <a:latin typeface="Arial" panose="020B0604020202020204" pitchFamily="34" charset="0"/>
                <a:cs typeface="Arial" panose="020B0604020202020204" pitchFamily="34" charset="0"/>
              </a:rPr>
              <a:t>48 = Unspecified blood glucose measurement </a:t>
            </a:r>
          </a:p>
          <a:p>
            <a:pPr lvl="1">
              <a:lnSpc>
                <a:spcPct val="100000"/>
              </a:lnSpc>
            </a:pPr>
            <a:r>
              <a:rPr lang="en-US" sz="1200" dirty="0">
                <a:effectLst/>
                <a:latin typeface="Arial" panose="020B0604020202020204" pitchFamily="34" charset="0"/>
                <a:cs typeface="Arial" panose="020B0604020202020204" pitchFamily="34" charset="0"/>
              </a:rPr>
              <a:t>57 = Unspecified blood glucose measurement </a:t>
            </a:r>
          </a:p>
          <a:p>
            <a:pPr lvl="1">
              <a:lnSpc>
                <a:spcPct val="100000"/>
              </a:lnSpc>
            </a:pPr>
            <a:r>
              <a:rPr lang="en-US" sz="1200" dirty="0">
                <a:effectLst/>
                <a:latin typeface="Arial" panose="020B0604020202020204" pitchFamily="34" charset="0"/>
                <a:cs typeface="Arial" panose="020B0604020202020204" pitchFamily="34" charset="0"/>
              </a:rPr>
              <a:t>58 = Pre-breakfast blood glucose measurement </a:t>
            </a:r>
          </a:p>
          <a:p>
            <a:pPr lvl="1">
              <a:lnSpc>
                <a:spcPct val="100000"/>
              </a:lnSpc>
            </a:pPr>
            <a:r>
              <a:rPr lang="en-US" sz="1200" dirty="0">
                <a:effectLst/>
                <a:latin typeface="Arial" panose="020B0604020202020204" pitchFamily="34" charset="0"/>
                <a:cs typeface="Arial" panose="020B0604020202020204" pitchFamily="34" charset="0"/>
              </a:rPr>
              <a:t>59 = Post-breakfast blood glucose measurement </a:t>
            </a:r>
          </a:p>
          <a:p>
            <a:pPr lvl="1">
              <a:lnSpc>
                <a:spcPct val="100000"/>
              </a:lnSpc>
            </a:pPr>
            <a:r>
              <a:rPr lang="en-US" sz="1200" dirty="0">
                <a:effectLst/>
                <a:latin typeface="Arial" panose="020B0604020202020204" pitchFamily="34" charset="0"/>
                <a:cs typeface="Arial" panose="020B0604020202020204" pitchFamily="34" charset="0"/>
              </a:rPr>
              <a:t>60 = Pre-lunch blood glucose measurement </a:t>
            </a:r>
          </a:p>
          <a:p>
            <a:pPr lvl="1">
              <a:lnSpc>
                <a:spcPct val="100000"/>
              </a:lnSpc>
            </a:pPr>
            <a:r>
              <a:rPr lang="en-US" sz="1200" dirty="0">
                <a:effectLst/>
                <a:latin typeface="Arial" panose="020B0604020202020204" pitchFamily="34" charset="0"/>
                <a:cs typeface="Arial" panose="020B0604020202020204" pitchFamily="34" charset="0"/>
              </a:rPr>
              <a:t>61 = Post-lunch blood glucose measurement </a:t>
            </a:r>
          </a:p>
          <a:p>
            <a:pPr lvl="1">
              <a:lnSpc>
                <a:spcPct val="100000"/>
              </a:lnSpc>
            </a:pPr>
            <a:r>
              <a:rPr lang="en-US" sz="1200" dirty="0">
                <a:effectLst/>
                <a:latin typeface="Arial" panose="020B0604020202020204" pitchFamily="34" charset="0"/>
                <a:cs typeface="Arial" panose="020B0604020202020204" pitchFamily="34" charset="0"/>
              </a:rPr>
              <a:t>62 = Pre-supper blood glucose measurement </a:t>
            </a:r>
          </a:p>
          <a:p>
            <a:pPr lvl="1">
              <a:lnSpc>
                <a:spcPct val="100000"/>
              </a:lnSpc>
            </a:pPr>
            <a:r>
              <a:rPr lang="en-US" sz="1200" dirty="0">
                <a:effectLst/>
                <a:latin typeface="Arial" panose="020B0604020202020204" pitchFamily="34" charset="0"/>
                <a:cs typeface="Arial" panose="020B0604020202020204" pitchFamily="34" charset="0"/>
              </a:rPr>
              <a:t>63 = Post-supper blood glucose measurement </a:t>
            </a:r>
          </a:p>
          <a:p>
            <a:pPr lvl="1">
              <a:lnSpc>
                <a:spcPct val="100000"/>
              </a:lnSpc>
            </a:pPr>
            <a:r>
              <a:rPr lang="en-US" sz="1200" dirty="0">
                <a:effectLst/>
                <a:latin typeface="Arial" panose="020B0604020202020204" pitchFamily="34" charset="0"/>
                <a:cs typeface="Arial" panose="020B0604020202020204" pitchFamily="34" charset="0"/>
              </a:rPr>
              <a:t>64 = Pre-snack blood glucose measurement</a:t>
            </a:r>
          </a:p>
          <a:p>
            <a:pPr marL="0" indent="0">
              <a:lnSpc>
                <a:spcPct val="100000"/>
              </a:lnSpc>
              <a:buNone/>
            </a:pPr>
            <a:endParaRPr lang="en-US" sz="12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6341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1963</TotalTime>
  <Words>4191</Words>
  <Application>Microsoft Office PowerPoint</Application>
  <PresentationFormat>Widescreen</PresentationFormat>
  <Paragraphs>220</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Bookman Old Style</vt:lpstr>
      <vt:lpstr>Rockwell</vt:lpstr>
      <vt:lpstr>Damask</vt:lpstr>
      <vt:lpstr>Final Project</vt:lpstr>
      <vt:lpstr>Slide 2: Contributions of each team member (1 slide)</vt:lpstr>
      <vt:lpstr>3. Problem Description</vt:lpstr>
      <vt:lpstr>4. Optimization Model</vt:lpstr>
      <vt:lpstr>5. Proposed Solution</vt:lpstr>
      <vt:lpstr>Validating Solution:</vt:lpstr>
      <vt:lpstr>Validating Solution:</vt:lpstr>
      <vt:lpstr>Validating Solution:</vt:lpstr>
      <vt:lpstr>Validating Solution:</vt:lpstr>
      <vt:lpstr>Validating Solution:</vt:lpstr>
      <vt:lpstr>Validating Solution:</vt:lpstr>
      <vt:lpstr>7. Key Insights</vt:lpstr>
      <vt:lpstr>8. Major Conclusions</vt:lpstr>
      <vt:lpstr>9. Suggestions for Improvement and Future Work - Ahmad</vt:lpstr>
      <vt:lpstr>Overview of the data (per the domain description file):</vt:lpstr>
      <vt:lpstr>References and Supporting Material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Christopher Ognibene</dc:creator>
  <cp:lastModifiedBy>Christopher Ognibene</cp:lastModifiedBy>
  <cp:revision>33</cp:revision>
  <dcterms:created xsi:type="dcterms:W3CDTF">2026-04-29T11:04:18Z</dcterms:created>
  <dcterms:modified xsi:type="dcterms:W3CDTF">2026-05-08T23:40:01Z</dcterms:modified>
</cp:coreProperties>
</file>