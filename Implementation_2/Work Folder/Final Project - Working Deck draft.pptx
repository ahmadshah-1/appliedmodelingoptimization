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60" r:id="rId3"/>
    <p:sldId id="257" r:id="rId4"/>
    <p:sldId id="258" r:id="rId5"/>
    <p:sldId id="259" r:id="rId6"/>
    <p:sldId id="261" r:id="rId7"/>
    <p:sldId id="276" r:id="rId8"/>
    <p:sldId id="271" r:id="rId9"/>
    <p:sldId id="274" r:id="rId10"/>
    <p:sldId id="275" r:id="rId11"/>
    <p:sldId id="267" r:id="rId12"/>
    <p:sldId id="268" r:id="rId13"/>
    <p:sldId id="262" r:id="rId14"/>
    <p:sldId id="263" r:id="rId15"/>
    <p:sldId id="264" r:id="rId16"/>
    <p:sldId id="266"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95FA3F-FA66-4D25-8B5A-147A674DED0A}">
          <p14:sldIdLst>
            <p14:sldId id="256"/>
            <p14:sldId id="260"/>
            <p14:sldId id="257"/>
            <p14:sldId id="258"/>
            <p14:sldId id="259"/>
            <p14:sldId id="261"/>
            <p14:sldId id="276"/>
            <p14:sldId id="271"/>
            <p14:sldId id="274"/>
            <p14:sldId id="275"/>
            <p14:sldId id="267"/>
            <p14:sldId id="268"/>
            <p14:sldId id="262"/>
            <p14:sldId id="263"/>
            <p14:sldId id="264"/>
          </p14:sldIdLst>
        </p14:section>
        <p14:section name="Appendix" id="{A3070CCB-5076-44CA-BBBC-396956981918}">
          <p14:sldIdLst>
            <p14:sldId id="266"/>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1A174-9595-561E-2CCC-2BFA7318FE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E7983C-4AE5-DBFB-57F1-1ADC0ADC58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70B585-6BB6-F29D-2ACB-25732228DA31}"/>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5" name="Footer Placeholder 4">
            <a:extLst>
              <a:ext uri="{FF2B5EF4-FFF2-40B4-BE49-F238E27FC236}">
                <a16:creationId xmlns:a16="http://schemas.microsoft.com/office/drawing/2014/main" id="{3418865C-377A-4E68-96BC-98F6C49FD5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549D05-90CA-0CED-47F3-D45E7121CE38}"/>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982533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42000-61BE-E5F8-7338-F214D8B759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1647E3-AC89-46B3-A11C-F2819294D9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70943-C1D8-68C8-1241-614E58643F7D}"/>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5" name="Footer Placeholder 4">
            <a:extLst>
              <a:ext uri="{FF2B5EF4-FFF2-40B4-BE49-F238E27FC236}">
                <a16:creationId xmlns:a16="http://schemas.microsoft.com/office/drawing/2014/main" id="{E347D5C7-FA2F-7A07-58D0-648F20E09D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8AF19D-2EEE-4737-0750-696874E25B53}"/>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3364065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0364-42BB-8C68-9256-44A1FFF15E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169A2E-6475-9EC4-F27C-9353ABF166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2E806F-601E-C636-D842-83B7E7DC4C37}"/>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5" name="Footer Placeholder 4">
            <a:extLst>
              <a:ext uri="{FF2B5EF4-FFF2-40B4-BE49-F238E27FC236}">
                <a16:creationId xmlns:a16="http://schemas.microsoft.com/office/drawing/2014/main" id="{8B1975F6-4702-7B78-F8E6-05BB4E519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31EE1A-3199-EAC6-4524-CABA97FA6080}"/>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404452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96C29-7151-0F61-045D-34F6376D87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031558-5A8D-53FD-BF9A-8841C238AD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C28F2D-47FB-CA77-531F-C60C79A9E7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327402-138E-3D92-6D7A-353DC2F55C4B}"/>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6" name="Footer Placeholder 5">
            <a:extLst>
              <a:ext uri="{FF2B5EF4-FFF2-40B4-BE49-F238E27FC236}">
                <a16:creationId xmlns:a16="http://schemas.microsoft.com/office/drawing/2014/main" id="{21D995D4-1339-A4D1-AFA6-71D09B202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0F4B91-CFBC-6565-250D-A71B45866602}"/>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847774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82E70-092B-DC8B-D51F-00E83F8447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C5BE16-B6D8-2017-D225-13EC126FB3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6FBEF1-3DB6-1F83-3AAA-A4AD7CB7DD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318D4A-4BF3-DA93-BB38-D68C68D2E8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A3383-E992-6EF9-6078-8D1045EED0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7F13B-CFE1-1F9F-7AA3-C53527A8FC2D}"/>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8" name="Footer Placeholder 7">
            <a:extLst>
              <a:ext uri="{FF2B5EF4-FFF2-40B4-BE49-F238E27FC236}">
                <a16:creationId xmlns:a16="http://schemas.microsoft.com/office/drawing/2014/main" id="{01ADA6D7-C025-8AFC-9BEC-6CAC455EEA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A0A2E3-8660-E455-0CD9-4FAA4F9A8AC1}"/>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176697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223B5-897F-1918-AE4B-5AD644F3E5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A56259-CFB3-FDAB-9EBE-4601D0A138CB}"/>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4" name="Footer Placeholder 3">
            <a:extLst>
              <a:ext uri="{FF2B5EF4-FFF2-40B4-BE49-F238E27FC236}">
                <a16:creationId xmlns:a16="http://schemas.microsoft.com/office/drawing/2014/main" id="{274BC9E6-C1FF-4114-C25C-CC49502A2A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619513-4026-6ABE-6030-8D7FC56F4ACD}"/>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1617475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D9DD5-D40A-8783-DC83-395F210FC81D}"/>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3" name="Footer Placeholder 2">
            <a:extLst>
              <a:ext uri="{FF2B5EF4-FFF2-40B4-BE49-F238E27FC236}">
                <a16:creationId xmlns:a16="http://schemas.microsoft.com/office/drawing/2014/main" id="{C6E18FF8-0EEC-329F-B592-8573F11BDD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880D21-0B09-12C1-7E9C-CB6750F35B11}"/>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4163147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D4401-D3F9-EE96-2894-561AED114A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F6A20F-77F7-853F-2551-72DDD6E32E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1DCFF7-2973-6736-6D09-0D0904BA36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8C0984-A3B7-1A00-5AF6-06173E93292E}"/>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6" name="Footer Placeholder 5">
            <a:extLst>
              <a:ext uri="{FF2B5EF4-FFF2-40B4-BE49-F238E27FC236}">
                <a16:creationId xmlns:a16="http://schemas.microsoft.com/office/drawing/2014/main" id="{068BC4E0-FCCF-76F8-DF4D-5674BF4997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DA497-9FCF-2D72-A11F-AA6035ED96FA}"/>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132413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004B6-4BA5-BBC8-2DC3-B003793C3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3D8483-E84C-3586-A810-5372D7523A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33153E-83B9-81A8-AE3E-D3C4ABAD2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C1CFBD-53E1-28C4-7247-A4B83A900838}"/>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6" name="Footer Placeholder 5">
            <a:extLst>
              <a:ext uri="{FF2B5EF4-FFF2-40B4-BE49-F238E27FC236}">
                <a16:creationId xmlns:a16="http://schemas.microsoft.com/office/drawing/2014/main" id="{A99A89EE-5339-43BD-A891-A6F2B1D407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6BAFA3-7162-1140-B351-17B72779B2FB}"/>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647799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32702-C806-E951-9986-403FE1201F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EAA45A-2906-1061-AD5D-65A0BD36D9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5990A1-0941-0EF4-1B95-19FF2D17D3D0}"/>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5" name="Footer Placeholder 4">
            <a:extLst>
              <a:ext uri="{FF2B5EF4-FFF2-40B4-BE49-F238E27FC236}">
                <a16:creationId xmlns:a16="http://schemas.microsoft.com/office/drawing/2014/main" id="{12AA14F4-B82E-F043-990D-5136DFC95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1FFBC5-DEDF-E350-15FC-877912CB4457}"/>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671266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C5200A-670E-AB15-6325-E1E0A94FC8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7570F3-30CF-C8B5-1920-2E26376CCB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1997FA-B6A0-E656-5792-4D24C7041833}"/>
              </a:ext>
            </a:extLst>
          </p:cNvPr>
          <p:cNvSpPr>
            <a:spLocks noGrp="1"/>
          </p:cNvSpPr>
          <p:nvPr>
            <p:ph type="dt" sz="half" idx="10"/>
          </p:nvPr>
        </p:nvSpPr>
        <p:spPr/>
        <p:txBody>
          <a:bodyPr/>
          <a:lstStyle/>
          <a:p>
            <a:fld id="{896A595D-548E-4674-9043-79F876C6DFE5}" type="datetimeFigureOut">
              <a:rPr lang="en-US" smtClean="0"/>
              <a:t>5/5/2026</a:t>
            </a:fld>
            <a:endParaRPr lang="en-US"/>
          </a:p>
        </p:txBody>
      </p:sp>
      <p:sp>
        <p:nvSpPr>
          <p:cNvPr id="5" name="Footer Placeholder 4">
            <a:extLst>
              <a:ext uri="{FF2B5EF4-FFF2-40B4-BE49-F238E27FC236}">
                <a16:creationId xmlns:a16="http://schemas.microsoft.com/office/drawing/2014/main" id="{834FFD83-597E-91BB-A69A-E719ABE99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A46A1-B250-182A-8F13-F60CA9C6B12C}"/>
              </a:ext>
            </a:extLst>
          </p:cNvPr>
          <p:cNvSpPr>
            <a:spLocks noGrp="1"/>
          </p:cNvSpPr>
          <p:nvPr>
            <p:ph type="sldNum" sz="quarter" idx="12"/>
          </p:nvPr>
        </p:nvSpPr>
        <p:spPr/>
        <p:txBody>
          <a:bodyPr/>
          <a:lstStyle/>
          <a:p>
            <a:fld id="{1A42BC0D-0532-495D-B8B4-E60BF7FFD9E8}" type="slidenum">
              <a:rPr lang="en-US" smtClean="0"/>
              <a:t>‹#›</a:t>
            </a:fld>
            <a:endParaRPr lang="en-US"/>
          </a:p>
        </p:txBody>
      </p:sp>
    </p:spTree>
    <p:extLst>
      <p:ext uri="{BB962C8B-B14F-4D97-AF65-F5344CB8AC3E}">
        <p14:creationId xmlns:p14="http://schemas.microsoft.com/office/powerpoint/2010/main" val="2616524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A1FE2A-43E8-3DC0-ECAC-EAE8959B8B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DE418B-4DAD-24D1-8452-1E5290B4FD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57B49-8B01-7FED-F3CA-0CF86D3ED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6A595D-548E-4674-9043-79F876C6DFE5}" type="datetimeFigureOut">
              <a:rPr lang="en-US" smtClean="0"/>
              <a:t>5/5/2026</a:t>
            </a:fld>
            <a:endParaRPr lang="en-US"/>
          </a:p>
        </p:txBody>
      </p:sp>
      <p:sp>
        <p:nvSpPr>
          <p:cNvPr id="5" name="Footer Placeholder 4">
            <a:extLst>
              <a:ext uri="{FF2B5EF4-FFF2-40B4-BE49-F238E27FC236}">
                <a16:creationId xmlns:a16="http://schemas.microsoft.com/office/drawing/2014/main" id="{1F1C8AFD-2F24-F45C-68AE-DE2BBEA657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559567-2D8B-131E-7FE3-2D0E2FCBA5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42BC0D-0532-495D-B8B4-E60BF7FFD9E8}" type="slidenum">
              <a:rPr lang="en-US" smtClean="0"/>
              <a:t>‹#›</a:t>
            </a:fld>
            <a:endParaRPr lang="en-US"/>
          </a:p>
        </p:txBody>
      </p:sp>
    </p:spTree>
    <p:extLst>
      <p:ext uri="{BB962C8B-B14F-4D97-AF65-F5344CB8AC3E}">
        <p14:creationId xmlns:p14="http://schemas.microsoft.com/office/powerpoint/2010/main" val="147617020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rchive.ics.uci.edu/dataset/34/diabet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openreview.net/pdf?id=PghuCwnjF6y" TargetMode="External"/><Relationship Id="rId2" Type="http://schemas.openxmlformats.org/officeDocument/2006/relationships/hyperlink" Target="https://www.kaggle.com/datasets?tags=15002-Optimization" TargetMode="External"/><Relationship Id="rId1" Type="http://schemas.openxmlformats.org/officeDocument/2006/relationships/slideLayout" Target="../slideLayouts/slideLayout2.xml"/><Relationship Id="rId4" Type="http://schemas.openxmlformats.org/officeDocument/2006/relationships/hyperlink" Target="https://gray.mgh.harvard.edu/research/optimization/227-cor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pypi.org/project/ncompress/" TargetMode="External"/><Relationship Id="rId2" Type="http://schemas.openxmlformats.org/officeDocument/2006/relationships/hyperlink" Target="https://archive.ics.uci.edu/dataset/34/diabetes" TargetMode="External"/><Relationship Id="rId1" Type="http://schemas.openxmlformats.org/officeDocument/2006/relationships/slideLayout" Target="../slideLayouts/slideLayout2.xml"/><Relationship Id="rId6" Type="http://schemas.openxmlformats.org/officeDocument/2006/relationships/hyperlink" Target="https://pypi.org/project/unlzw3/" TargetMode="External"/><Relationship Id="rId5" Type="http://schemas.openxmlformats.org/officeDocument/2006/relationships/hyperlink" Target="https://anaconda.org/channels/conda-forge/packages/unlzw3/overview" TargetMode="External"/><Relationship Id="rId4" Type="http://schemas.openxmlformats.org/officeDocument/2006/relationships/hyperlink" Target="https://docs.python.org/3/library/tarfil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06226-773D-A3AA-D6AC-BD413B90C6B7}"/>
              </a:ext>
            </a:extLst>
          </p:cNvPr>
          <p:cNvSpPr>
            <a:spLocks noGrp="1"/>
          </p:cNvSpPr>
          <p:nvPr>
            <p:ph type="ctrTitle"/>
          </p:nvPr>
        </p:nvSpPr>
        <p:spPr/>
        <p:txBody>
          <a:bodyPr/>
          <a:lstStyle/>
          <a:p>
            <a:r>
              <a:rPr lang="en-US" dirty="0"/>
              <a:t>Final Project</a:t>
            </a:r>
          </a:p>
        </p:txBody>
      </p:sp>
      <p:sp>
        <p:nvSpPr>
          <p:cNvPr id="3" name="Subtitle 2">
            <a:extLst>
              <a:ext uri="{FF2B5EF4-FFF2-40B4-BE49-F238E27FC236}">
                <a16:creationId xmlns:a16="http://schemas.microsoft.com/office/drawing/2014/main" id="{DA4F74F1-C259-217B-716F-72B2B4DD7822}"/>
              </a:ext>
            </a:extLst>
          </p:cNvPr>
          <p:cNvSpPr>
            <a:spLocks noGrp="1"/>
          </p:cNvSpPr>
          <p:nvPr>
            <p:ph type="subTitle" idx="1"/>
          </p:nvPr>
        </p:nvSpPr>
        <p:spPr/>
        <p:txBody>
          <a:bodyPr/>
          <a:lstStyle/>
          <a:p>
            <a:r>
              <a:rPr lang="en-US" dirty="0"/>
              <a:t>&lt;TEAM MEMBERS&gt;</a:t>
            </a:r>
          </a:p>
        </p:txBody>
      </p:sp>
    </p:spTree>
    <p:extLst>
      <p:ext uri="{BB962C8B-B14F-4D97-AF65-F5344CB8AC3E}">
        <p14:creationId xmlns:p14="http://schemas.microsoft.com/office/powerpoint/2010/main" val="163885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E97C5-73FD-6654-6302-5E7561EE9B26}"/>
              </a:ext>
            </a:extLst>
          </p:cNvPr>
          <p:cNvSpPr>
            <a:spLocks noGrp="1"/>
          </p:cNvSpPr>
          <p:nvPr>
            <p:ph type="title"/>
          </p:nvPr>
        </p:nvSpPr>
        <p:spPr>
          <a:xfrm>
            <a:off x="441035" y="365125"/>
            <a:ext cx="11575473" cy="775378"/>
          </a:xfrm>
        </p:spPr>
        <p:txBody>
          <a:bodyPr>
            <a:normAutofit/>
          </a:bodyPr>
          <a:lstStyle/>
          <a:p>
            <a:r>
              <a:rPr lang="en-US" sz="2000" dirty="0">
                <a:latin typeface="Arial" panose="020B0604020202020204" pitchFamily="34" charset="0"/>
                <a:cs typeface="Arial" panose="020B0604020202020204" pitchFamily="34" charset="0"/>
              </a:rPr>
              <a:t>Slide 2: Contributions of each team member (1 slide)</a:t>
            </a:r>
          </a:p>
        </p:txBody>
      </p:sp>
      <p:sp>
        <p:nvSpPr>
          <p:cNvPr id="3" name="Content Placeholder 2">
            <a:extLst>
              <a:ext uri="{FF2B5EF4-FFF2-40B4-BE49-F238E27FC236}">
                <a16:creationId xmlns:a16="http://schemas.microsoft.com/office/drawing/2014/main" id="{B053E3CB-1518-64B7-EB5E-7ECB95350F4D}"/>
              </a:ext>
            </a:extLst>
          </p:cNvPr>
          <p:cNvSpPr>
            <a:spLocks noGrp="1"/>
          </p:cNvSpPr>
          <p:nvPr>
            <p:ph idx="1"/>
          </p:nvPr>
        </p:nvSpPr>
        <p:spPr>
          <a:xfrm>
            <a:off x="441035" y="1253330"/>
            <a:ext cx="11575473" cy="5258305"/>
          </a:xfrm>
        </p:spPr>
        <p:txBody>
          <a:bodyPr>
            <a:normAutofit/>
          </a:bodyPr>
          <a:lstStyle/>
          <a:p>
            <a:r>
              <a:rPr lang="en-US" sz="1200" dirty="0">
                <a:latin typeface="Arial" panose="020B0604020202020204" pitchFamily="34" charset="0"/>
                <a:cs typeface="Arial" panose="020B0604020202020204" pitchFamily="34" charset="0"/>
              </a:rPr>
              <a:t>Data set identification – Ahmad </a:t>
            </a:r>
          </a:p>
          <a:p>
            <a:r>
              <a:rPr lang="en-US" sz="1200" dirty="0">
                <a:latin typeface="Arial" panose="020B0604020202020204" pitchFamily="34" charset="0"/>
                <a:cs typeface="Arial" panose="020B0604020202020204" pitchFamily="34" charset="0"/>
              </a:rPr>
              <a:t>Problem Definition – Ahmad / Chris </a:t>
            </a:r>
          </a:p>
          <a:p>
            <a:r>
              <a:rPr lang="en-US" sz="1200" dirty="0">
                <a:latin typeface="Arial" panose="020B0604020202020204" pitchFamily="34" charset="0"/>
                <a:cs typeface="Arial" panose="020B0604020202020204" pitchFamily="34" charset="0"/>
              </a:rPr>
              <a:t>Data extraction – Ahmad/Chris </a:t>
            </a:r>
          </a:p>
          <a:p>
            <a:r>
              <a:rPr lang="en-US" sz="1200" dirty="0">
                <a:latin typeface="Arial" panose="020B0604020202020204" pitchFamily="34" charset="0"/>
                <a:cs typeface="Arial" panose="020B0604020202020204" pitchFamily="34" charset="0"/>
              </a:rPr>
              <a:t>Data transformation – Chris </a:t>
            </a:r>
          </a:p>
          <a:p>
            <a:r>
              <a:rPr lang="en-US" sz="1200" dirty="0">
                <a:highlight>
                  <a:srgbClr val="FFFF00"/>
                </a:highlight>
                <a:latin typeface="Arial" panose="020B0604020202020204" pitchFamily="34" charset="0"/>
                <a:cs typeface="Arial" panose="020B0604020202020204" pitchFamily="34" charset="0"/>
              </a:rPr>
              <a:t>Data cleaning – Chris </a:t>
            </a:r>
          </a:p>
          <a:p>
            <a:r>
              <a:rPr lang="en-US" sz="1200" dirty="0">
                <a:highlight>
                  <a:srgbClr val="FFFF00"/>
                </a:highlight>
                <a:latin typeface="Arial" panose="020B0604020202020204" pitchFamily="34" charset="0"/>
                <a:cs typeface="Arial" panose="020B0604020202020204" pitchFamily="34" charset="0"/>
              </a:rPr>
              <a:t>Objective Function Formulation </a:t>
            </a:r>
          </a:p>
          <a:p>
            <a:pPr lvl="1"/>
            <a:r>
              <a:rPr lang="en-US" sz="1200" dirty="0">
                <a:highlight>
                  <a:srgbClr val="FFFF00"/>
                </a:highlight>
                <a:latin typeface="Arial" panose="020B0604020202020204" pitchFamily="34" charset="0"/>
                <a:cs typeface="Arial" panose="020B0604020202020204" pitchFamily="34" charset="0"/>
              </a:rPr>
              <a:t>Write the Objective Function (without regularization) </a:t>
            </a:r>
          </a:p>
          <a:p>
            <a:r>
              <a:rPr lang="en-US" sz="1200" dirty="0">
                <a:highlight>
                  <a:srgbClr val="FFFF00"/>
                </a:highlight>
                <a:latin typeface="Arial" panose="020B0604020202020204" pitchFamily="34" charset="0"/>
                <a:cs typeface="Arial" panose="020B0604020202020204" pitchFamily="34" charset="0"/>
              </a:rPr>
              <a:t>Objective Function Implementation </a:t>
            </a:r>
          </a:p>
          <a:p>
            <a:pPr lvl="1"/>
            <a:r>
              <a:rPr lang="en-US" sz="1200" dirty="0">
                <a:highlight>
                  <a:srgbClr val="FFFF00"/>
                </a:highlight>
                <a:latin typeface="Arial" panose="020B0604020202020204" pitchFamily="34" charset="0"/>
                <a:cs typeface="Arial" panose="020B0604020202020204" pitchFamily="34" charset="0"/>
              </a:rPr>
              <a:t>Next focus: Program the core gradient descent algorithm </a:t>
            </a:r>
          </a:p>
          <a:p>
            <a:pPr lvl="1"/>
            <a:r>
              <a:rPr lang="en-US" sz="1200" dirty="0">
                <a:highlight>
                  <a:srgbClr val="FFFF00"/>
                </a:highlight>
                <a:latin typeface="Arial" panose="020B0604020202020204" pitchFamily="34" charset="0"/>
                <a:cs typeface="Arial" panose="020B0604020202020204" pitchFamily="34" charset="0"/>
              </a:rPr>
              <a:t>Then: incorporate ridge regression penalty term </a:t>
            </a:r>
          </a:p>
          <a:p>
            <a:pPr lvl="1"/>
            <a:r>
              <a:rPr lang="en-US" sz="1200" dirty="0">
                <a:highlight>
                  <a:srgbClr val="FFFF00"/>
                </a:highlight>
                <a:latin typeface="Arial" panose="020B0604020202020204" pitchFamily="34" charset="0"/>
                <a:cs typeface="Arial" panose="020B0604020202020204" pitchFamily="34" charset="0"/>
              </a:rPr>
              <a:t>Then incorporate lasso regression penalty term </a:t>
            </a:r>
          </a:p>
          <a:p>
            <a:r>
              <a:rPr lang="en-US" sz="1200" dirty="0">
                <a:highlight>
                  <a:srgbClr val="FFFF00"/>
                </a:highlight>
                <a:latin typeface="Arial" panose="020B0604020202020204" pitchFamily="34" charset="0"/>
                <a:cs typeface="Arial" panose="020B0604020202020204" pitchFamily="34" charset="0"/>
              </a:rPr>
              <a:t>Objective function calibration (i.e., training) – Chris </a:t>
            </a:r>
          </a:p>
          <a:p>
            <a:r>
              <a:rPr lang="en-US" sz="1200" dirty="0">
                <a:highlight>
                  <a:srgbClr val="FFFF00"/>
                </a:highlight>
                <a:latin typeface="Arial" panose="020B0604020202020204" pitchFamily="34" charset="0"/>
                <a:cs typeface="Arial" panose="020B0604020202020204" pitchFamily="34" charset="0"/>
              </a:rPr>
              <a:t>Objective function testing (i.e., out-of-sample) – Chris </a:t>
            </a:r>
          </a:p>
          <a:p>
            <a:r>
              <a:rPr lang="en-US" sz="1200" dirty="0">
                <a:highlight>
                  <a:srgbClr val="FFFF00"/>
                </a:highlight>
                <a:latin typeface="Arial" panose="020B0604020202020204" pitchFamily="34" charset="0"/>
                <a:cs typeface="Arial" panose="020B0604020202020204" pitchFamily="34" charset="0"/>
              </a:rPr>
              <a:t>Discussions of results – Ahmad/Chris </a:t>
            </a:r>
          </a:p>
          <a:p>
            <a:endParaRPr lang="en-US" sz="12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1511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04D00-B2A5-85B1-6ED7-3AE20CB503FF}"/>
              </a:ext>
            </a:extLst>
          </p:cNvPr>
          <p:cNvSpPr>
            <a:spLocks noGrp="1"/>
          </p:cNvSpPr>
          <p:nvPr>
            <p:ph type="title"/>
          </p:nvPr>
        </p:nvSpPr>
        <p:spPr>
          <a:xfrm>
            <a:off x="320964" y="318944"/>
            <a:ext cx="10515600" cy="595457"/>
          </a:xfrm>
        </p:spPr>
        <p:txBody>
          <a:bodyPr>
            <a:normAutofit/>
          </a:bodyPr>
          <a:lstStyle/>
          <a:p>
            <a:r>
              <a:rPr lang="en-US" sz="2000" dirty="0">
                <a:latin typeface="Arial" panose="020B0604020202020204" pitchFamily="34" charset="0"/>
                <a:cs typeface="Arial" panose="020B0604020202020204" pitchFamily="34" charset="0"/>
              </a:rPr>
              <a:t>3. Problem Description</a:t>
            </a:r>
          </a:p>
        </p:txBody>
      </p:sp>
      <p:sp>
        <p:nvSpPr>
          <p:cNvPr id="3" name="Content Placeholder 2">
            <a:extLst>
              <a:ext uri="{FF2B5EF4-FFF2-40B4-BE49-F238E27FC236}">
                <a16:creationId xmlns:a16="http://schemas.microsoft.com/office/drawing/2014/main" id="{502DEC3E-B1CC-A45C-528E-B25216729017}"/>
              </a:ext>
            </a:extLst>
          </p:cNvPr>
          <p:cNvSpPr>
            <a:spLocks noGrp="1"/>
          </p:cNvSpPr>
          <p:nvPr>
            <p:ph idx="1"/>
          </p:nvPr>
        </p:nvSpPr>
        <p:spPr>
          <a:xfrm>
            <a:off x="320963" y="1114426"/>
            <a:ext cx="11630891" cy="5424630"/>
          </a:xfrm>
        </p:spPr>
        <p:txBody>
          <a:bodyPr>
            <a:normAutofit/>
          </a:bodyPr>
          <a:lstStyle/>
          <a:p>
            <a:pPr marL="0" indent="0">
              <a:buNone/>
            </a:pPr>
            <a:r>
              <a:rPr lang="en-US" sz="1200" b="1" dirty="0">
                <a:latin typeface="Arial" panose="020B0604020202020204" pitchFamily="34" charset="0"/>
                <a:cs typeface="Arial" panose="020B0604020202020204" pitchFamily="34" charset="0"/>
              </a:rPr>
              <a:t>Goal:  (high-level, plain English description of the problem; why it is important?) (1 slide)</a:t>
            </a:r>
          </a:p>
          <a:p>
            <a:r>
              <a:rPr lang="en-US" sz="1200" dirty="0">
                <a:latin typeface="Arial" panose="020B0604020202020204" pitchFamily="34" charset="0"/>
                <a:cs typeface="Arial" panose="020B0604020202020204" pitchFamily="34" charset="0"/>
              </a:rPr>
              <a:t>We want to be able to determine the most relevant drivers to determining blood glucose level, so that we may help future patients with diabetes understand what activities help keep blood sugar under control. </a:t>
            </a:r>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41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9E8C4-DA61-50AC-17F3-2E82F43A74FA}"/>
              </a:ext>
            </a:extLst>
          </p:cNvPr>
          <p:cNvSpPr>
            <a:spLocks noGrp="1"/>
          </p:cNvSpPr>
          <p:nvPr>
            <p:ph type="title"/>
          </p:nvPr>
        </p:nvSpPr>
        <p:spPr>
          <a:xfrm>
            <a:off x="339436" y="143452"/>
            <a:ext cx="10515600" cy="844839"/>
          </a:xfrm>
        </p:spPr>
        <p:txBody>
          <a:bodyPr>
            <a:normAutofit/>
          </a:bodyPr>
          <a:lstStyle/>
          <a:p>
            <a:r>
              <a:rPr lang="en-US" sz="2000" dirty="0">
                <a:latin typeface="Arial" panose="020B0604020202020204" pitchFamily="34" charset="0"/>
                <a:cs typeface="Arial" panose="020B0604020202020204" pitchFamily="34" charset="0"/>
              </a:rPr>
              <a:t>4. Optimization Model</a:t>
            </a:r>
          </a:p>
        </p:txBody>
      </p:sp>
      <p:sp>
        <p:nvSpPr>
          <p:cNvPr id="3" name="Content Placeholder 2">
            <a:extLst>
              <a:ext uri="{FF2B5EF4-FFF2-40B4-BE49-F238E27FC236}">
                <a16:creationId xmlns:a16="http://schemas.microsoft.com/office/drawing/2014/main" id="{CD45F43A-DC89-B424-592D-75B06F6D90F5}"/>
              </a:ext>
            </a:extLst>
          </p:cNvPr>
          <p:cNvSpPr>
            <a:spLocks noGrp="1"/>
          </p:cNvSpPr>
          <p:nvPr>
            <p:ph idx="1"/>
          </p:nvPr>
        </p:nvSpPr>
        <p:spPr>
          <a:xfrm>
            <a:off x="339435" y="1086716"/>
            <a:ext cx="11584709" cy="5406448"/>
          </a:xfrm>
        </p:spPr>
        <p:txBody>
          <a:bodyPr>
            <a:normAutofit/>
          </a:bodyPr>
          <a:lstStyle/>
          <a:p>
            <a:pPr marL="0" indent="0">
              <a:buNone/>
            </a:pPr>
            <a:r>
              <a:rPr lang="en-US" sz="1200" b="1" dirty="0">
                <a:highlight>
                  <a:srgbClr val="FFFF00"/>
                </a:highlight>
              </a:rPr>
              <a:t>Goal:  objective function, constraints; explain the rationale behind your model) (1 slide)</a:t>
            </a:r>
          </a:p>
          <a:p>
            <a:r>
              <a:rPr lang="en-US" sz="1200" dirty="0">
                <a:highlight>
                  <a:srgbClr val="FFFF00"/>
                </a:highlight>
                <a:latin typeface="Arial" panose="020B0604020202020204" pitchFamily="34" charset="0"/>
                <a:cs typeface="Arial" panose="020B0604020202020204" pitchFamily="34" charset="0"/>
              </a:rPr>
              <a:t>Reason: This was because we will ultimately run a regularized Linear Regression algorithm, which is sensitive to outliers.</a:t>
            </a:r>
          </a:p>
          <a:p>
            <a:r>
              <a:rPr lang="en-US" sz="1200" dirty="0">
                <a:latin typeface="Arial" panose="020B0604020202020204" pitchFamily="34" charset="0"/>
                <a:cs typeface="Arial" panose="020B0604020202020204" pitchFamily="34" charset="0"/>
              </a:rPr>
              <a:t>Goal: Least amount of features that allow us to cross an MSE below a certain threshold </a:t>
            </a:r>
          </a:p>
          <a:p>
            <a:r>
              <a:rPr lang="en-US" sz="1200" dirty="0">
                <a:latin typeface="Arial" panose="020B0604020202020204" pitchFamily="34" charset="0"/>
                <a:cs typeface="Arial" panose="020B0604020202020204" pitchFamily="34" charset="0"/>
              </a:rPr>
              <a:t>Minimizing the number of features </a:t>
            </a:r>
          </a:p>
          <a:p>
            <a:r>
              <a:rPr lang="en-US" sz="1200" dirty="0">
                <a:latin typeface="Arial" panose="020B0604020202020204" pitchFamily="34" charset="0"/>
                <a:cs typeface="Arial" panose="020B0604020202020204" pitchFamily="34" charset="0"/>
              </a:rPr>
              <a:t>Subject to: </a:t>
            </a:r>
          </a:p>
          <a:p>
            <a:r>
              <a:rPr lang="en-US" sz="1200" dirty="0">
                <a:latin typeface="Arial" panose="020B0604020202020204" pitchFamily="34" charset="0"/>
                <a:cs typeface="Arial" panose="020B0604020202020204" pitchFamily="34" charset="0"/>
              </a:rPr>
              <a:t>--&gt; </a:t>
            </a:r>
          </a:p>
          <a:p>
            <a:r>
              <a:rPr lang="en-US" sz="1200" dirty="0">
                <a:latin typeface="Arial" panose="020B0604020202020204" pitchFamily="34" charset="0"/>
                <a:cs typeface="Arial" panose="020B0604020202020204" pitchFamily="34" charset="0"/>
              </a:rPr>
              <a:t>Glucose level</a:t>
            </a:r>
            <a:endParaRPr lang="en-US" sz="1200" dirty="0">
              <a:highlight>
                <a:srgbClr val="FFFF00"/>
              </a:highlight>
              <a:latin typeface="Arial" panose="020B0604020202020204" pitchFamily="34" charset="0"/>
              <a:cs typeface="Arial" panose="020B0604020202020204" pitchFamily="34" charset="0"/>
            </a:endParaRPr>
          </a:p>
          <a:p>
            <a:endParaRPr lang="en-US" sz="1200" dirty="0"/>
          </a:p>
        </p:txBody>
      </p:sp>
    </p:spTree>
    <p:extLst>
      <p:ext uri="{BB962C8B-B14F-4D97-AF65-F5344CB8AC3E}">
        <p14:creationId xmlns:p14="http://schemas.microsoft.com/office/powerpoint/2010/main" val="3800235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B0ED-06A5-A4E2-720A-97F25A3D11DF}"/>
              </a:ext>
            </a:extLst>
          </p:cNvPr>
          <p:cNvSpPr>
            <a:spLocks noGrp="1"/>
          </p:cNvSpPr>
          <p:nvPr>
            <p:ph type="title"/>
          </p:nvPr>
        </p:nvSpPr>
        <p:spPr>
          <a:xfrm>
            <a:off x="441037" y="304799"/>
            <a:ext cx="10515600" cy="752475"/>
          </a:xfrm>
        </p:spPr>
        <p:txBody>
          <a:bodyPr>
            <a:normAutofit/>
          </a:bodyPr>
          <a:lstStyle/>
          <a:p>
            <a:r>
              <a:rPr lang="en-US" sz="2000" dirty="0">
                <a:latin typeface="Arial" panose="020B0604020202020204" pitchFamily="34" charset="0"/>
                <a:cs typeface="Arial" panose="020B0604020202020204" pitchFamily="34" charset="0"/>
              </a:rPr>
              <a:t>5. Proposed Solution</a:t>
            </a:r>
          </a:p>
        </p:txBody>
      </p:sp>
      <p:sp>
        <p:nvSpPr>
          <p:cNvPr id="3" name="Content Placeholder 2">
            <a:extLst>
              <a:ext uri="{FF2B5EF4-FFF2-40B4-BE49-F238E27FC236}">
                <a16:creationId xmlns:a16="http://schemas.microsoft.com/office/drawing/2014/main" id="{DBFFCB03-BEDD-F31B-BA91-EBFF9842FDED}"/>
              </a:ext>
            </a:extLst>
          </p:cNvPr>
          <p:cNvSpPr>
            <a:spLocks noGrp="1"/>
          </p:cNvSpPr>
          <p:nvPr>
            <p:ph idx="1"/>
          </p:nvPr>
        </p:nvSpPr>
        <p:spPr>
          <a:xfrm>
            <a:off x="441037" y="1336097"/>
            <a:ext cx="11427690" cy="5217104"/>
          </a:xfrm>
        </p:spPr>
        <p:txBody>
          <a:bodyPr>
            <a:normAutofit/>
          </a:bodyPr>
          <a:lstStyle/>
          <a:p>
            <a:pPr marL="0" indent="0">
              <a:buNone/>
            </a:pPr>
            <a:r>
              <a:rPr lang="en-US" sz="1200" b="1" dirty="0">
                <a:latin typeface="Arial" panose="020B0604020202020204" pitchFamily="34" charset="0"/>
                <a:cs typeface="Arial" panose="020B0604020202020204" pitchFamily="34" charset="0"/>
              </a:rPr>
              <a:t>Goal:  is it convex/non-convex?; what is the feasible set?; why did you conclude that a solution may exist; closed-form solution; numerical solution using a toolbox, etc.) (Max 5 slide)</a:t>
            </a:r>
            <a:r>
              <a:rPr lang="en-US" sz="1200" dirty="0">
                <a:latin typeface="Arial" panose="020B0604020202020204" pitchFamily="34" charset="0"/>
                <a:cs typeface="Arial" panose="020B0604020202020204" pitchFamily="34" charset="0"/>
              </a:rPr>
              <a:t> </a:t>
            </a:r>
          </a:p>
          <a:p>
            <a:pPr marL="0" indent="0">
              <a:buNone/>
            </a:pPr>
            <a:r>
              <a:rPr lang="en-US" sz="1200" dirty="0">
                <a:latin typeface="Arial" panose="020B0604020202020204" pitchFamily="34" charset="0"/>
                <a:cs typeface="Arial" panose="020B0604020202020204" pitchFamily="34" charset="0"/>
              </a:rPr>
              <a:t>We describe our objective function problem, constraints and feasible set based on the type of solution we expect. </a:t>
            </a:r>
          </a:p>
          <a:p>
            <a:r>
              <a:rPr lang="en-US" sz="1200" b="1" dirty="0">
                <a:latin typeface="Arial" panose="020B0604020202020204" pitchFamily="34" charset="0"/>
                <a:cs typeface="Arial" panose="020B0604020202020204" pitchFamily="34" charset="0"/>
              </a:rPr>
              <a:t>Convex or non-convex problem:</a:t>
            </a:r>
            <a:r>
              <a:rPr lang="en-US" sz="1200" dirty="0">
                <a:latin typeface="Arial" panose="020B0604020202020204" pitchFamily="34" charset="0"/>
                <a:cs typeface="Arial" panose="020B0604020202020204" pitchFamily="34" charset="0"/>
              </a:rPr>
              <a:t> </a:t>
            </a:r>
            <a:r>
              <a:rPr lang="en-US" sz="1200" dirty="0">
                <a:highlight>
                  <a:srgbClr val="FFFF00"/>
                </a:highlight>
                <a:latin typeface="Arial" panose="020B0604020202020204" pitchFamily="34" charset="0"/>
                <a:cs typeface="Arial" panose="020B0604020202020204" pitchFamily="34" charset="0"/>
              </a:rPr>
              <a:t>Convex</a:t>
            </a:r>
            <a:r>
              <a:rPr lang="en-US" sz="1200" dirty="0">
                <a:latin typeface="Arial" panose="020B0604020202020204" pitchFamily="34" charset="0"/>
                <a:cs typeface="Arial" panose="020B0604020202020204" pitchFamily="34" charset="0"/>
              </a:rPr>
              <a:t> </a:t>
            </a:r>
          </a:p>
          <a:p>
            <a:r>
              <a:rPr lang="en-US" sz="1200" b="1" dirty="0">
                <a:highlight>
                  <a:srgbClr val="FFFF00"/>
                </a:highlight>
                <a:latin typeface="Arial" panose="020B0604020202020204" pitchFamily="34" charset="0"/>
                <a:cs typeface="Arial" panose="020B0604020202020204" pitchFamily="34" charset="0"/>
              </a:rPr>
              <a:t>Feasible set</a:t>
            </a:r>
            <a:r>
              <a:rPr lang="en-US" sz="1200" b="1"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the code values (i.e., a discrete, integer set) </a:t>
            </a:r>
          </a:p>
          <a:p>
            <a:r>
              <a:rPr lang="en-US" sz="1200" b="1" dirty="0">
                <a:latin typeface="Arial" panose="020B0604020202020204" pitchFamily="34" charset="0"/>
                <a:cs typeface="Arial" panose="020B0604020202020204" pitchFamily="34" charset="0"/>
              </a:rPr>
              <a:t>Does a solution exist? </a:t>
            </a:r>
            <a:r>
              <a:rPr lang="en-US" sz="1200" dirty="0">
                <a:latin typeface="Arial" panose="020B0604020202020204" pitchFamily="34" charset="0"/>
                <a:cs typeface="Arial" panose="020B0604020202020204" pitchFamily="34" charset="0"/>
              </a:rPr>
              <a:t>We expect a solution to exist as our regression problem will be attempting to fit a best line through our data with as few (parsimonious) variables as needed to maintain sufficient accuracy and generalizability to the test sample. </a:t>
            </a:r>
          </a:p>
          <a:p>
            <a:r>
              <a:rPr lang="en-US" sz="1200" b="1" dirty="0">
                <a:latin typeface="Arial" panose="020B0604020202020204" pitchFamily="34" charset="0"/>
                <a:cs typeface="Arial" panose="020B0604020202020204" pitchFamily="34" charset="0"/>
              </a:rPr>
              <a:t>Numerical technique: </a:t>
            </a:r>
            <a:r>
              <a:rPr lang="en-US" sz="1200" dirty="0">
                <a:latin typeface="Arial" panose="020B0604020202020204" pitchFamily="34" charset="0"/>
                <a:cs typeface="Arial" panose="020B0604020202020204" pitchFamily="34" charset="0"/>
              </a:rPr>
              <a:t>The numerical technique will be a </a:t>
            </a:r>
            <a:r>
              <a:rPr lang="en-US" sz="1200" b="1" dirty="0">
                <a:latin typeface="Arial" panose="020B0604020202020204" pitchFamily="34" charset="0"/>
                <a:cs typeface="Arial" panose="020B0604020202020204" pitchFamily="34" charset="0"/>
              </a:rPr>
              <a:t>regularized objective function </a:t>
            </a:r>
            <a:r>
              <a:rPr lang="en-US" sz="1200" dirty="0">
                <a:latin typeface="Arial" panose="020B0604020202020204" pitchFamily="34" charset="0"/>
                <a:cs typeface="Arial" panose="020B0604020202020204" pitchFamily="34" charset="0"/>
              </a:rPr>
              <a:t>problem. </a:t>
            </a:r>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5956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3D40-F1E2-CE9D-CDE2-10B85C3A617F}"/>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1D9F66B1-31A3-3A93-8F36-4D5BA756F192}"/>
              </a:ext>
            </a:extLst>
          </p:cNvPr>
          <p:cNvSpPr>
            <a:spLocks noGrp="1"/>
          </p:cNvSpPr>
          <p:nvPr>
            <p:ph idx="1"/>
          </p:nvPr>
        </p:nvSpPr>
        <p:spPr>
          <a:xfrm>
            <a:off x="191652" y="772679"/>
            <a:ext cx="11778673" cy="5895975"/>
          </a:xfrm>
        </p:spPr>
        <p:txBody>
          <a:bodyPr>
            <a:normAutofit/>
          </a:bodyPr>
          <a:lstStyle/>
          <a:p>
            <a:pPr marL="0" indent="0">
              <a:buNone/>
            </a:pPr>
            <a:r>
              <a:rPr lang="en-US" sz="1200" b="1" dirty="0">
                <a:highlight>
                  <a:srgbClr val="FFFF00"/>
                </a:highlight>
                <a:latin typeface="Arial" panose="020B0604020202020204" pitchFamily="34" charset="0"/>
                <a:cs typeface="Arial" panose="020B0604020202020204" pitchFamily="34" charset="0"/>
              </a:rPr>
              <a:t>Prompt:  </a:t>
            </a:r>
            <a:r>
              <a:rPr lang="en-US" sz="1200" dirty="0">
                <a:highlight>
                  <a:srgbClr val="FFFF00"/>
                </a:highligh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highlight>
                  <a:srgbClr val="FFFF00"/>
                </a:highlight>
                <a:latin typeface="Arial" panose="020B0604020202020204" pitchFamily="34" charset="0"/>
                <a:cs typeface="Arial" panose="020B0604020202020204" pitchFamily="34" charset="0"/>
              </a:rPr>
              <a:t>(max 5 slides)</a:t>
            </a:r>
          </a:p>
          <a:p>
            <a:r>
              <a:rPr lang="en-US" sz="1200" b="1" dirty="0">
                <a:latin typeface="Arial" panose="020B0604020202020204" pitchFamily="34" charset="0"/>
                <a:cs typeface="Arial" panose="020B0604020202020204" pitchFamily="34" charset="0"/>
              </a:rPr>
              <a:t>Data Set Selection:</a:t>
            </a:r>
            <a:r>
              <a:rPr lang="en-US" sz="1200" dirty="0">
                <a:latin typeface="Arial" panose="020B0604020202020204" pitchFamily="34" charset="0"/>
                <a:cs typeface="Arial" panose="020B0604020202020204" pitchFamily="34" charset="0"/>
              </a:rPr>
              <a:t> We use the data set ‘Diabetes’ from the UC Irvine Machine Learning Repository. </a:t>
            </a:r>
            <a:r>
              <a:rPr lang="en-US" sz="1200" dirty="0">
                <a:latin typeface="Arial" panose="020B0604020202020204" pitchFamily="34" charset="0"/>
                <a:cs typeface="Arial" panose="020B0604020202020204" pitchFamily="34" charset="0"/>
                <a:hlinkClick r:id="rId2"/>
              </a:rPr>
              <a:t>https://archive.ics.uci.edu/dataset/34/diabetes</a:t>
            </a:r>
            <a:r>
              <a:rPr lang="en-US" sz="1200" dirty="0">
                <a:latin typeface="Arial" panose="020B0604020202020204" pitchFamily="34" charset="0"/>
                <a:cs typeface="Arial" panose="020B0604020202020204" pitchFamily="34" charset="0"/>
              </a:rPr>
              <a:t> </a:t>
            </a:r>
          </a:p>
          <a:p>
            <a:r>
              <a:rPr lang="en-US" sz="1200" b="1" dirty="0">
                <a:latin typeface="Arial" panose="020B0604020202020204" pitchFamily="34" charset="0"/>
                <a:cs typeface="Arial" panose="020B0604020202020204" pitchFamily="34" charset="0"/>
              </a:rPr>
              <a:t>Purpose of the dataset:</a:t>
            </a:r>
            <a:r>
              <a:rPr lang="en-US" sz="1200" dirty="0">
                <a:latin typeface="Arial" panose="020B0604020202020204" pitchFamily="34" charset="0"/>
                <a:cs typeface="Arial" panose="020B0604020202020204" pitchFamily="34" charset="0"/>
              </a:rPr>
              <a:t> The data was compiled in 1994 for the AI in Medicine Symposium (i.e., AAAI Spring Symposium on Interpreting Clinical Data). We credit Isaac  Kohane, AIM-94 Co-Chair 8/27/1993 who provided a high-level business synopsis of the data set (i.e., jargon). In addition, we credit the author of the data set to Michael Kahn, MD, PhD, Washington University, St. Louis, MO) for the data we use for our course project. The data contains details on basic physiology and </a:t>
            </a:r>
            <a:r>
              <a:rPr lang="en-US" sz="1200" dirty="0" err="1">
                <a:latin typeface="Arial" panose="020B0604020202020204" pitchFamily="34" charset="0"/>
                <a:cs typeface="Arial" panose="020B0604020202020204" pitchFamily="34" charset="0"/>
              </a:rPr>
              <a:t>patho</a:t>
            </a:r>
            <a:r>
              <a:rPr lang="en-US" sz="1200" dirty="0">
                <a:latin typeface="Arial" panose="020B0604020202020204" pitchFamily="34" charset="0"/>
                <a:cs typeface="Arial" panose="020B0604020202020204" pitchFamily="34" charset="0"/>
              </a:rPr>
              <a:t>-physiology of diabetes mellitus and its treatment. The dataset is composed of </a:t>
            </a:r>
            <a:r>
              <a:rPr lang="en-US" sz="1200" dirty="0">
                <a:highlight>
                  <a:srgbClr val="FFFF00"/>
                </a:highlight>
                <a:latin typeface="Arial" panose="020B0604020202020204" pitchFamily="34" charset="0"/>
                <a:cs typeface="Arial" panose="020B0604020202020204" pitchFamily="34" charset="0"/>
              </a:rPr>
              <a:t>70</a:t>
            </a:r>
            <a:r>
              <a:rPr lang="en-US" sz="1200" dirty="0">
                <a:latin typeface="Arial" panose="020B0604020202020204" pitchFamily="34" charset="0"/>
                <a:cs typeface="Arial" panose="020B0604020202020204" pitchFamily="34" charset="0"/>
              </a:rPr>
              <a:t> diabetes patient records collected from electronic and paper records. Patients are indexed by 1-70. Each patient has several weeks' to months' worth of outpatient care data. </a:t>
            </a:r>
          </a:p>
          <a:p>
            <a:r>
              <a:rPr lang="en-US" sz="1200" b="1" dirty="0">
                <a:latin typeface="Arial" panose="020B0604020202020204" pitchFamily="34" charset="0"/>
                <a:cs typeface="Arial" panose="020B0604020202020204" pitchFamily="34" charset="0"/>
              </a:rPr>
              <a:t>How is the data organized? </a:t>
            </a:r>
            <a:r>
              <a:rPr lang="en-US" sz="1200" dirty="0">
                <a:latin typeface="Arial" panose="020B0604020202020204" pitchFamily="34" charset="0"/>
                <a:cs typeface="Arial" panose="020B0604020202020204" pitchFamily="34" charset="0"/>
              </a:rPr>
              <a:t>Data is organized per patient, with electronic records in time-stamp format vs. paper recordings in categorical format ((breakfast, lunch, dinner, bedtime).</a:t>
            </a:r>
          </a:p>
          <a:p>
            <a:r>
              <a:rPr lang="en-US" sz="1200" b="1" dirty="0">
                <a:latin typeface="Arial" panose="020B0604020202020204" pitchFamily="34" charset="0"/>
                <a:cs typeface="Arial" panose="020B0604020202020204" pitchFamily="34" charset="0"/>
              </a:rPr>
              <a:t>What features do we have on every patient? </a:t>
            </a:r>
            <a:r>
              <a:rPr lang="en-US" sz="1200" dirty="0">
                <a:latin typeface="Arial" panose="020B0604020202020204" pitchFamily="34" charset="0"/>
                <a:cs typeface="Arial" panose="020B0604020202020204" pitchFamily="34" charset="0"/>
              </a:rPr>
              <a:t>Each patient has four features, each feature is separated by a tab and each patient is separated by a newline. </a:t>
            </a:r>
          </a:p>
          <a:p>
            <a:pPr lvl="1"/>
            <a:r>
              <a:rPr lang="en-US" sz="1200" dirty="0">
                <a:latin typeface="Arial" panose="020B0604020202020204" pitchFamily="34" charset="0"/>
                <a:cs typeface="Arial" panose="020B0604020202020204" pitchFamily="34" charset="0"/>
              </a:rPr>
              <a:t>The data set consists of 4 features per patient. </a:t>
            </a:r>
          </a:p>
          <a:p>
            <a:pPr lvl="1"/>
            <a:r>
              <a:rPr lang="en-US" sz="1200" dirty="0">
                <a:latin typeface="Arial" panose="020B0604020202020204" pitchFamily="34" charset="0"/>
                <a:cs typeface="Arial" panose="020B0604020202020204" pitchFamily="34" charset="0"/>
              </a:rPr>
              <a:t>Data-Codes (‘Code’): a listing of the codes used in the data sets.</a:t>
            </a:r>
          </a:p>
          <a:p>
            <a:pPr lvl="1"/>
            <a:r>
              <a:rPr lang="en-US" sz="1200" dirty="0">
                <a:latin typeface="Arial" panose="020B0604020202020204" pitchFamily="34" charset="0"/>
                <a:cs typeface="Arial" panose="020B0604020202020204" pitchFamily="34" charset="0"/>
              </a:rPr>
              <a:t>Date in MM-DD-YYYY format: i.e., date of recording </a:t>
            </a:r>
          </a:p>
          <a:p>
            <a:pPr lvl="1"/>
            <a:r>
              <a:rPr lang="en-US" sz="1200" dirty="0">
                <a:latin typeface="Arial" panose="020B0604020202020204" pitchFamily="34" charset="0"/>
                <a:cs typeface="Arial" panose="020B0604020202020204" pitchFamily="34" charset="0"/>
              </a:rPr>
              <a:t>Time in XX:YY format: i.e., time of recording </a:t>
            </a:r>
          </a:p>
          <a:p>
            <a:pPr lvl="1"/>
            <a:r>
              <a:rPr lang="en-US" sz="1200" dirty="0">
                <a:latin typeface="Arial" panose="020B0604020202020204" pitchFamily="34" charset="0"/>
                <a:cs typeface="Arial" panose="020B0604020202020204" pitchFamily="34" charset="0"/>
              </a:rPr>
              <a:t>Value: i.e., blood glucose level </a:t>
            </a:r>
          </a:p>
          <a:p>
            <a:pPr lvl="0"/>
            <a:r>
              <a:rPr lang="en-US" sz="1200" dirty="0">
                <a:highlight>
                  <a:srgbClr val="FFFF00"/>
                </a:highlight>
                <a:latin typeface="Arial" panose="020B0604020202020204" pitchFamily="34" charset="0"/>
                <a:cs typeface="Arial" panose="020B0604020202020204" pitchFamily="34" charset="0"/>
              </a:rPr>
              <a:t>Because our data set is in “narrow” format and not in the traditional machine-learning ready format (“wide”) with one observation per row = 1 patient per 1 day and codes (events) not as individual columns, we need to conduct several processing transformations before we can split our data. </a:t>
            </a:r>
          </a:p>
          <a:p>
            <a:pPr lvl="0"/>
            <a:r>
              <a:rPr lang="en-US" sz="1200" dirty="0">
                <a:latin typeface="Arial" panose="020B0604020202020204" pitchFamily="34" charset="0"/>
                <a:cs typeface="Arial" panose="020B0604020202020204" pitchFamily="34" charset="0"/>
              </a:rPr>
              <a:t>The initial challenges we encounter are: </a:t>
            </a:r>
          </a:p>
          <a:p>
            <a:pPr lvl="1"/>
            <a:r>
              <a:rPr lang="en-US" sz="1200" dirty="0">
                <a:latin typeface="Arial" panose="020B0604020202020204" pitchFamily="34" charset="0"/>
                <a:cs typeface="Arial" panose="020B0604020202020204" pitchFamily="34" charset="0"/>
              </a:rPr>
              <a:t>Feature engineer an appropriate target variable: pivot → columns like 58–63 </a:t>
            </a:r>
          </a:p>
          <a:p>
            <a:pPr lvl="1"/>
            <a:r>
              <a:rPr lang="en-US" sz="1200" dirty="0">
                <a:latin typeface="Arial" panose="020B0604020202020204" pitchFamily="34" charset="0"/>
                <a:cs typeface="Arial" panose="020B0604020202020204" pitchFamily="34" charset="0"/>
              </a:rPr>
              <a:t>Handling missing values - filling missing with 0 – an N/A code on a particular day means no data available, rather than falsely imputing an event </a:t>
            </a:r>
          </a:p>
          <a:p>
            <a:pPr lvl="1"/>
            <a:r>
              <a:rPr lang="en-US" sz="1200" dirty="0">
                <a:latin typeface="Arial" panose="020B0604020202020204" pitchFamily="34" charset="0"/>
                <a:cs typeface="Arial" panose="020B0604020202020204" pitchFamily="34" charset="0"/>
              </a:rPr>
              <a:t>averaging glucose values </a:t>
            </a:r>
          </a:p>
          <a:p>
            <a:pPr lvl="1"/>
            <a:endParaRPr lang="en-US" sz="12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769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66D0F-9C59-10E0-CDA6-FE6028ED0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E5843-6727-E463-D5A9-B79A55A8DFF6}"/>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CC3FEA41-5486-4365-247B-27DC75C3C6BD}"/>
              </a:ext>
            </a:extLst>
          </p:cNvPr>
          <p:cNvSpPr>
            <a:spLocks noGrp="1"/>
          </p:cNvSpPr>
          <p:nvPr>
            <p:ph idx="1"/>
          </p:nvPr>
        </p:nvSpPr>
        <p:spPr>
          <a:xfrm>
            <a:off x="191652" y="772679"/>
            <a:ext cx="11778673" cy="5895975"/>
          </a:xfrm>
        </p:spPr>
        <p:txBody>
          <a:bodyPr>
            <a:normAutofit/>
          </a:bodyPr>
          <a:lstStyle/>
          <a:p>
            <a:pPr marL="0" indent="0">
              <a:buNone/>
            </a:pPr>
            <a:r>
              <a:rPr lang="en-US" sz="1200" b="1" dirty="0">
                <a:highlight>
                  <a:srgbClr val="FFFF00"/>
                </a:highlight>
                <a:latin typeface="Arial" panose="020B0604020202020204" pitchFamily="34" charset="0"/>
                <a:cs typeface="Arial" panose="020B0604020202020204" pitchFamily="34" charset="0"/>
              </a:rPr>
              <a:t>Prompt:  </a:t>
            </a:r>
            <a:r>
              <a:rPr lang="en-US" sz="1200" dirty="0">
                <a:highlight>
                  <a:srgbClr val="FFFF00"/>
                </a:highligh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highlight>
                  <a:srgbClr val="FFFF00"/>
                </a:highlight>
                <a:latin typeface="Arial" panose="020B0604020202020204" pitchFamily="34" charset="0"/>
                <a:cs typeface="Arial" panose="020B0604020202020204" pitchFamily="34" charset="0"/>
              </a:rPr>
              <a:t>(max 5 slides)</a:t>
            </a:r>
          </a:p>
          <a:p>
            <a:pPr lvl="0"/>
            <a:r>
              <a:rPr lang="en-US" sz="1200" dirty="0">
                <a:highlight>
                  <a:srgbClr val="FFFF00"/>
                </a:highlight>
                <a:latin typeface="Arial" panose="020B0604020202020204" pitchFamily="34" charset="0"/>
                <a:cs typeface="Arial" panose="020B0604020202020204" pitchFamily="34" charset="0"/>
              </a:rPr>
              <a:t>We describe how we transform our data set into narrow to wide format:</a:t>
            </a:r>
          </a:p>
          <a:p>
            <a:pPr lvl="1"/>
            <a:r>
              <a:rPr lang="en-US" sz="1200" dirty="0">
                <a:highlight>
                  <a:srgbClr val="FFFF00"/>
                </a:highlight>
                <a:latin typeface="Arial" panose="020B0604020202020204" pitchFamily="34" charset="0"/>
                <a:cs typeface="Arial" panose="020B0604020202020204" pitchFamily="34" charset="0"/>
              </a:rPr>
              <a:t>Maintaining temporal structure</a:t>
            </a:r>
          </a:p>
          <a:p>
            <a:pPr lvl="2"/>
            <a:r>
              <a:rPr lang="en-US" sz="1200" dirty="0">
                <a:highlight>
                  <a:srgbClr val="FFFF00"/>
                </a:highlight>
                <a:latin typeface="Arial" panose="020B0604020202020204" pitchFamily="34" charset="0"/>
                <a:cs typeface="Arial" panose="020B0604020202020204" pitchFamily="34" charset="0"/>
              </a:rPr>
              <a:t>We create a datetime combined index of Date + Time, which we will use to transform the data set for 1 </a:t>
            </a:r>
            <a:r>
              <a:rPr lang="en-US" sz="1200" dirty="0" err="1">
                <a:highlight>
                  <a:srgbClr val="FFFF00"/>
                </a:highlight>
                <a:latin typeface="Arial" panose="020B0604020202020204" pitchFamily="34" charset="0"/>
                <a:cs typeface="Arial" panose="020B0604020202020204" pitchFamily="34" charset="0"/>
              </a:rPr>
              <a:t>patenti</a:t>
            </a:r>
            <a:r>
              <a:rPr lang="en-US" sz="1200" dirty="0">
                <a:highlight>
                  <a:srgbClr val="FFFF00"/>
                </a:highlight>
                <a:latin typeface="Arial" panose="020B0604020202020204" pitchFamily="34" charset="0"/>
                <a:cs typeface="Arial" panose="020B0604020202020204" pitchFamily="34" charset="0"/>
              </a:rPr>
              <a:t> per 1 day </a:t>
            </a:r>
          </a:p>
          <a:p>
            <a:pPr lvl="2"/>
            <a:r>
              <a:rPr lang="en-US" sz="1200" dirty="0" err="1">
                <a:highlight>
                  <a:srgbClr val="FFFF00"/>
                </a:highlight>
                <a:latin typeface="Arial" panose="020B0604020202020204" pitchFamily="34" charset="0"/>
                <a:cs typeface="Arial" panose="020B0604020202020204" pitchFamily="34" charset="0"/>
              </a:rPr>
              <a:t>final_data</a:t>
            </a:r>
            <a:r>
              <a:rPr lang="en-US" sz="1200" dirty="0">
                <a:highlight>
                  <a:srgbClr val="FFFF00"/>
                </a:highlight>
                <a:latin typeface="Arial" panose="020B0604020202020204" pitchFamily="34" charset="0"/>
                <a:cs typeface="Arial" panose="020B0604020202020204" pitchFamily="34" charset="0"/>
              </a:rPr>
              <a:t>['datetime'] = </a:t>
            </a:r>
            <a:r>
              <a:rPr lang="en-US" sz="1200" dirty="0" err="1">
                <a:highlight>
                  <a:srgbClr val="FFFF00"/>
                </a:highlight>
                <a:latin typeface="Arial" panose="020B0604020202020204" pitchFamily="34" charset="0"/>
                <a:cs typeface="Arial" panose="020B0604020202020204" pitchFamily="34" charset="0"/>
              </a:rPr>
              <a:t>pd.to_datetime</a:t>
            </a:r>
            <a:r>
              <a:rPr lang="en-US" sz="1200" dirty="0">
                <a:highlight>
                  <a:srgbClr val="FFFF00"/>
                </a:highlight>
                <a:latin typeface="Arial" panose="020B0604020202020204" pitchFamily="34" charset="0"/>
                <a:cs typeface="Arial" panose="020B0604020202020204" pitchFamily="34" charset="0"/>
              </a:rPr>
              <a:t>(</a:t>
            </a:r>
            <a:r>
              <a:rPr lang="en-US" sz="1200" dirty="0" err="1">
                <a:highlight>
                  <a:srgbClr val="FFFF00"/>
                </a:highlight>
                <a:latin typeface="Arial" panose="020B0604020202020204" pitchFamily="34" charset="0"/>
                <a:cs typeface="Arial" panose="020B0604020202020204" pitchFamily="34" charset="0"/>
              </a:rPr>
              <a:t>final_data</a:t>
            </a:r>
            <a:r>
              <a:rPr lang="en-US" sz="1200" dirty="0">
                <a:highlight>
                  <a:srgbClr val="FFFF00"/>
                </a:highlight>
                <a:latin typeface="Arial" panose="020B0604020202020204" pitchFamily="34" charset="0"/>
                <a:cs typeface="Arial" panose="020B0604020202020204" pitchFamily="34" charset="0"/>
              </a:rPr>
              <a:t>['Date'] + ' ' + </a:t>
            </a:r>
            <a:r>
              <a:rPr lang="en-US" sz="1200" dirty="0" err="1">
                <a:highlight>
                  <a:srgbClr val="FFFF00"/>
                </a:highlight>
                <a:latin typeface="Arial" panose="020B0604020202020204" pitchFamily="34" charset="0"/>
                <a:cs typeface="Arial" panose="020B0604020202020204" pitchFamily="34" charset="0"/>
              </a:rPr>
              <a:t>final_data</a:t>
            </a:r>
            <a:r>
              <a:rPr lang="en-US" sz="1200" dirty="0">
                <a:highlight>
                  <a:srgbClr val="FFFF00"/>
                </a:highlight>
                <a:latin typeface="Arial" panose="020B0604020202020204" pitchFamily="34" charset="0"/>
                <a:cs typeface="Arial" panose="020B0604020202020204" pitchFamily="34" charset="0"/>
              </a:rPr>
              <a:t>['Time'], errors='coerce')</a:t>
            </a:r>
          </a:p>
          <a:p>
            <a:pPr lvl="2"/>
            <a:r>
              <a:rPr lang="en-US" sz="1200" dirty="0" err="1">
                <a:highlight>
                  <a:srgbClr val="FFFF00"/>
                </a:highlight>
                <a:latin typeface="Arial" panose="020B0604020202020204" pitchFamily="34" charset="0"/>
                <a:cs typeface="Arial" panose="020B0604020202020204" pitchFamily="34" charset="0"/>
              </a:rPr>
              <a:t>final_data</a:t>
            </a:r>
            <a:r>
              <a:rPr lang="en-US" sz="1200" dirty="0">
                <a:highlight>
                  <a:srgbClr val="FFFF00"/>
                </a:highlight>
                <a:latin typeface="Arial" panose="020B0604020202020204" pitchFamily="34" charset="0"/>
                <a:cs typeface="Arial" panose="020B0604020202020204" pitchFamily="34" charset="0"/>
              </a:rPr>
              <a:t>['day'] = </a:t>
            </a:r>
            <a:r>
              <a:rPr lang="en-US" sz="1200" dirty="0" err="1">
                <a:highlight>
                  <a:srgbClr val="FFFF00"/>
                </a:highlight>
                <a:latin typeface="Arial" panose="020B0604020202020204" pitchFamily="34" charset="0"/>
                <a:cs typeface="Arial" panose="020B0604020202020204" pitchFamily="34" charset="0"/>
              </a:rPr>
              <a:t>final_data</a:t>
            </a:r>
            <a:r>
              <a:rPr lang="en-US" sz="1200" dirty="0">
                <a:highlight>
                  <a:srgbClr val="FFFF00"/>
                </a:highlight>
                <a:latin typeface="Arial" panose="020B0604020202020204" pitchFamily="34" charset="0"/>
                <a:cs typeface="Arial" panose="020B0604020202020204" pitchFamily="34" charset="0"/>
              </a:rPr>
              <a:t>['datetime'].</a:t>
            </a:r>
            <a:r>
              <a:rPr lang="en-US" sz="1200" dirty="0" err="1">
                <a:highlight>
                  <a:srgbClr val="FFFF00"/>
                </a:highlight>
                <a:latin typeface="Arial" panose="020B0604020202020204" pitchFamily="34" charset="0"/>
                <a:cs typeface="Arial" panose="020B0604020202020204" pitchFamily="34" charset="0"/>
              </a:rPr>
              <a:t>dt.date</a:t>
            </a:r>
            <a:r>
              <a:rPr lang="en-US" sz="1200" dirty="0">
                <a:highlight>
                  <a:srgbClr val="FFFF00"/>
                </a:highlight>
                <a:latin typeface="Arial" panose="020B0604020202020204" pitchFamily="34" charset="0"/>
                <a:cs typeface="Arial" panose="020B0604020202020204" pitchFamily="34" charset="0"/>
              </a:rPr>
              <a:t> </a:t>
            </a:r>
          </a:p>
          <a:p>
            <a:pPr lvl="1"/>
            <a:r>
              <a:rPr lang="en-US" sz="1200" dirty="0">
                <a:latin typeface="Arial" panose="020B0604020202020204" pitchFamily="34" charset="0"/>
                <a:cs typeface="Arial" panose="020B0604020202020204" pitchFamily="34" charset="0"/>
              </a:rPr>
              <a:t>Then we will unstack the ‘Code’ column to create the ‘wide’ data set’, rather than tall. </a:t>
            </a:r>
          </a:p>
          <a:p>
            <a:pPr lvl="2"/>
            <a:r>
              <a:rPr lang="en-US" sz="1200" dirty="0" err="1">
                <a:latin typeface="Arial" panose="020B0604020202020204" pitchFamily="34" charset="0"/>
                <a:cs typeface="Arial" panose="020B0604020202020204" pitchFamily="34" charset="0"/>
              </a:rPr>
              <a:t>final_data</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pd.pivot_table</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final_data</a:t>
            </a:r>
            <a:r>
              <a:rPr lang="en-US" sz="1200" dirty="0">
                <a:latin typeface="Arial" panose="020B0604020202020204" pitchFamily="34" charset="0"/>
                <a:cs typeface="Arial" panose="020B0604020202020204" pitchFamily="34" charset="0"/>
              </a:rPr>
              <a:t>, index=['PATIENT_ID', 'datetime'], columns='Code', values='Value')</a:t>
            </a:r>
          </a:p>
          <a:p>
            <a:pPr lvl="1"/>
            <a:r>
              <a:rPr lang="en-US" sz="1200" dirty="0">
                <a:latin typeface="Arial" panose="020B0604020202020204" pitchFamily="34" charset="0"/>
                <a:cs typeface="Arial" panose="020B0604020202020204" pitchFamily="34" charset="0"/>
              </a:rPr>
              <a:t>Handling missing values - filling missing with 0 – an N/A code on a particular day means no data available, rather than falsely imputing an event </a:t>
            </a:r>
          </a:p>
          <a:p>
            <a:pPr lvl="2"/>
            <a:r>
              <a:rPr lang="pt-BR" sz="1200" dirty="0">
                <a:latin typeface="Arial" panose="020B0604020202020204" pitchFamily="34" charset="0"/>
                <a:cs typeface="Arial" panose="020B0604020202020204" pitchFamily="34" charset="0"/>
              </a:rPr>
              <a:t>final_data = final_data.fillna(final_data.mean())</a:t>
            </a:r>
          </a:p>
          <a:p>
            <a:pPr lvl="1"/>
            <a:r>
              <a:rPr lang="en-US" sz="1200" dirty="0">
                <a:latin typeface="Arial" panose="020B0604020202020204" pitchFamily="34" charset="0"/>
                <a:cs typeface="Arial" panose="020B0604020202020204" pitchFamily="34" charset="0"/>
              </a:rPr>
              <a:t>Feature engineer an appropriate target variable: pivot → columns like 58–63 </a:t>
            </a:r>
          </a:p>
          <a:p>
            <a:pPr lvl="2"/>
            <a:r>
              <a:rPr lang="en-US" sz="1200" dirty="0">
                <a:highlight>
                  <a:srgbClr val="FFFF00"/>
                </a:highlight>
                <a:latin typeface="Arial" panose="020B0604020202020204" pitchFamily="34" charset="0"/>
                <a:cs typeface="Arial" panose="020B0604020202020204" pitchFamily="34" charset="0"/>
              </a:rPr>
              <a:t>Per ChatGPT, raw code values are weak. </a:t>
            </a:r>
          </a:p>
          <a:p>
            <a:pPr lvl="1"/>
            <a:r>
              <a:rPr lang="en-US" sz="1200" dirty="0">
                <a:latin typeface="Arial" panose="020B0604020202020204" pitchFamily="34" charset="0"/>
                <a:cs typeface="Arial" panose="020B0604020202020204" pitchFamily="34" charset="0"/>
              </a:rPr>
              <a:t>averaging glucose values </a:t>
            </a:r>
          </a:p>
          <a:p>
            <a:pPr lvl="2"/>
            <a:r>
              <a:rPr lang="en-US" sz="1200" dirty="0">
                <a:highlight>
                  <a:srgbClr val="FFFF00"/>
                </a:highlight>
                <a:latin typeface="Arial" panose="020B0604020202020204" pitchFamily="34" charset="0"/>
                <a:cs typeface="Arial" panose="020B0604020202020204" pitchFamily="34" charset="0"/>
              </a:rPr>
              <a:t>Averaging results in artificial smoothing of the events pre/during/post meals, which we’d want to capture </a:t>
            </a:r>
          </a:p>
          <a:p>
            <a:pPr lvl="2"/>
            <a:endParaRPr lang="en-US" sz="1200" dirty="0">
              <a:highlight>
                <a:srgbClr val="FFFF00"/>
              </a:highlight>
              <a:latin typeface="Arial" panose="020B0604020202020204" pitchFamily="34" charset="0"/>
              <a:cs typeface="Arial" panose="020B0604020202020204" pitchFamily="34" charset="0"/>
            </a:endParaRPr>
          </a:p>
          <a:p>
            <a:pPr lvl="1"/>
            <a:r>
              <a:rPr lang="en-US" sz="1200" dirty="0">
                <a:highlight>
                  <a:srgbClr val="FFFF00"/>
                </a:highlight>
                <a:latin typeface="Arial" panose="020B0604020202020204" pitchFamily="34" charset="0"/>
                <a:cs typeface="Arial" panose="020B0604020202020204" pitchFamily="34" charset="0"/>
              </a:rPr>
              <a:t>Addressing bad data: </a:t>
            </a:r>
          </a:p>
          <a:p>
            <a:pPr lvl="2"/>
            <a:r>
              <a:rPr lang="en-US" sz="1200" dirty="0">
                <a:latin typeface="Arial" panose="020B0604020202020204" pitchFamily="34" charset="0"/>
                <a:cs typeface="Arial" panose="020B0604020202020204" pitchFamily="34" charset="0"/>
              </a:rPr>
              <a:t>Measurement date “06-31-1991” – not accurate, presumably let’s record at 6/30/1991, valid last day of June </a:t>
            </a:r>
          </a:p>
          <a:p>
            <a:endParaRPr lang="en-US" sz="1200" dirty="0">
              <a:highlight>
                <a:srgbClr val="FFFF00"/>
              </a:highlight>
              <a:latin typeface="Arial" panose="020B0604020202020204" pitchFamily="34" charset="0"/>
              <a:cs typeface="Arial" panose="020B0604020202020204" pitchFamily="34" charset="0"/>
            </a:endParaRPr>
          </a:p>
          <a:p>
            <a:r>
              <a:rPr lang="en-US" sz="1200" dirty="0" err="1">
                <a:latin typeface="Arial" panose="020B0604020202020204" pitchFamily="34" charset="0"/>
                <a:cs typeface="Arial" panose="020B0604020202020204" pitchFamily="34" charset="0"/>
              </a:rPr>
              <a:t>final_data</a:t>
            </a:r>
            <a:r>
              <a:rPr lang="en-US" sz="1200" dirty="0">
                <a:latin typeface="Arial" panose="020B0604020202020204" pitchFamily="34" charset="0"/>
                <a:cs typeface="Arial" panose="020B0604020202020204" pitchFamily="34" charset="0"/>
              </a:rPr>
              <a:t>['datetime'].unique() #14741 unique observations</a:t>
            </a:r>
          </a:p>
          <a:p>
            <a:endParaRPr lang="en-US" sz="12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1044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C6050-8621-4C3B-8D41-CA7EB4B14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C3A74-A085-0155-71FF-EE51F9C53713}"/>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8BBE2AE3-3936-A7AD-0C57-7D7293025B53}"/>
              </a:ext>
            </a:extLst>
          </p:cNvPr>
          <p:cNvSpPr>
            <a:spLocks noGrp="1"/>
          </p:cNvSpPr>
          <p:nvPr>
            <p:ph idx="1"/>
          </p:nvPr>
        </p:nvSpPr>
        <p:spPr>
          <a:xfrm>
            <a:off x="191652" y="772679"/>
            <a:ext cx="11778673" cy="5895975"/>
          </a:xfrm>
        </p:spPr>
        <p:txBody>
          <a:bodyPr>
            <a:noAutofit/>
          </a:bodyPr>
          <a:lstStyle/>
          <a:p>
            <a:pPr marL="0" indent="0">
              <a:buNone/>
            </a:pPr>
            <a:r>
              <a:rPr lang="en-US" sz="1200" b="1" dirty="0">
                <a:highlight>
                  <a:srgbClr val="FFFF00"/>
                </a:highlight>
                <a:latin typeface="Arial" panose="020B0604020202020204" pitchFamily="34" charset="0"/>
                <a:cs typeface="Arial" panose="020B0604020202020204" pitchFamily="34" charset="0"/>
              </a:rPr>
              <a:t>Prompt:  </a:t>
            </a:r>
            <a:r>
              <a:rPr lang="en-US" sz="1200" dirty="0">
                <a:highlight>
                  <a:srgbClr val="FFFF00"/>
                </a:highligh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highlight>
                  <a:srgbClr val="FFFF00"/>
                </a:highlight>
                <a:latin typeface="Arial" panose="020B0604020202020204" pitchFamily="34" charset="0"/>
                <a:cs typeface="Arial" panose="020B0604020202020204" pitchFamily="34" charset="0"/>
              </a:rPr>
              <a:t>(max 5 slides)</a:t>
            </a:r>
          </a:p>
          <a:p>
            <a:r>
              <a:rPr lang="en-US" sz="1200" b="1" dirty="0">
                <a:latin typeface="Arial" panose="020B0604020202020204" pitchFamily="34" charset="0"/>
                <a:cs typeface="Arial" panose="020B0604020202020204" pitchFamily="34" charset="0"/>
              </a:rPr>
              <a:t>How did we process the data?</a:t>
            </a:r>
            <a:r>
              <a:rPr lang="en-US" sz="1200" dirty="0">
                <a:latin typeface="Arial" panose="020B0604020202020204" pitchFamily="34" charset="0"/>
                <a:cs typeface="Arial" panose="020B0604020202020204" pitchFamily="34" charset="0"/>
              </a:rPr>
              <a:t> The data is stored as a zip compressed file. Therefore, we extract the data using Python into individual CSV files (one per patient), which we then combine into a single data set for downstream analysis. We unstack the ‘Code’ </a:t>
            </a:r>
            <a:r>
              <a:rPr lang="en-US" sz="1200" dirty="0" err="1">
                <a:latin typeface="Arial" panose="020B0604020202020204" pitchFamily="34" charset="0"/>
                <a:cs typeface="Arial" panose="020B0604020202020204" pitchFamily="34" charset="0"/>
              </a:rPr>
              <a:t>ciolumn</a:t>
            </a:r>
            <a:r>
              <a:rPr lang="en-US" sz="1200" dirty="0">
                <a:latin typeface="Arial" panose="020B0604020202020204" pitchFamily="34" charset="0"/>
                <a:cs typeface="Arial" panose="020B0604020202020204" pitchFamily="34" charset="0"/>
              </a:rPr>
              <a:t> to parse out each individual code as it’s own column. We include PATIENT_ID (1,…,70) and Date/Time as record index identifiers. </a:t>
            </a:r>
            <a:r>
              <a:rPr lang="en-US" sz="1200" dirty="0">
                <a:highlight>
                  <a:srgbClr val="FFFF00"/>
                </a:highlight>
                <a:latin typeface="Arial" panose="020B0604020202020204" pitchFamily="34" charset="0"/>
                <a:cs typeface="Arial" panose="020B0604020202020204" pitchFamily="34" charset="0"/>
              </a:rPr>
              <a:t>We will index the data by date and patient ID</a:t>
            </a:r>
            <a:r>
              <a:rPr lang="en-US" sz="1200" dirty="0">
                <a:latin typeface="Arial" panose="020B0604020202020204" pitchFamily="34" charset="0"/>
                <a:cs typeface="Arial" panose="020B0604020202020204" pitchFamily="34" charset="0"/>
              </a:rPr>
              <a:t>. </a:t>
            </a:r>
          </a:p>
          <a:p>
            <a:r>
              <a:rPr lang="en-US" sz="1200" dirty="0">
                <a:highlight>
                  <a:srgbClr val="FFFF00"/>
                </a:highlight>
                <a:latin typeface="Arial" panose="020B0604020202020204" pitchFamily="34" charset="0"/>
                <a:cs typeface="Arial" panose="020B0604020202020204" pitchFamily="34" charset="0"/>
              </a:rPr>
              <a:t>We will need to address sparse nulls, i.e., for a patient, there is no recording at a specific time. </a:t>
            </a:r>
          </a:p>
          <a:p>
            <a:r>
              <a:rPr lang="en-US" sz="1200" dirty="0">
                <a:highlight>
                  <a:srgbClr val="FFFF00"/>
                </a:highlight>
                <a:latin typeface="Arial" panose="020B0604020202020204" pitchFamily="34" charset="0"/>
                <a:cs typeface="Arial" panose="020B0604020202020204" pitchFamily="34" charset="0"/>
              </a:rPr>
              <a:t>Exploratory stats: timeframe, # patients, total recordings per patient </a:t>
            </a:r>
          </a:p>
        </p:txBody>
      </p:sp>
    </p:spTree>
    <p:extLst>
      <p:ext uri="{BB962C8B-B14F-4D97-AF65-F5344CB8AC3E}">
        <p14:creationId xmlns:p14="http://schemas.microsoft.com/office/powerpoint/2010/main" val="3049555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071B-1FE0-3203-FC94-B3858B6CE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90C37-6979-D6E7-415D-FCE39B850638}"/>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A73B8C33-F197-DBFA-67FF-A5E4D82306F7}"/>
              </a:ext>
            </a:extLst>
          </p:cNvPr>
          <p:cNvSpPr>
            <a:spLocks noGrp="1"/>
          </p:cNvSpPr>
          <p:nvPr>
            <p:ph idx="1"/>
          </p:nvPr>
        </p:nvSpPr>
        <p:spPr>
          <a:xfrm>
            <a:off x="191652" y="772679"/>
            <a:ext cx="11778673" cy="5895975"/>
          </a:xfrm>
        </p:spPr>
        <p:txBody>
          <a:bodyPr>
            <a:noAutofit/>
          </a:bodyPr>
          <a:lstStyle/>
          <a:p>
            <a:pPr marL="0" indent="0">
              <a:buNone/>
            </a:pPr>
            <a:r>
              <a:rPr lang="en-US" sz="1200" b="1" dirty="0">
                <a:highlight>
                  <a:srgbClr val="FFFF00"/>
                </a:highlight>
                <a:latin typeface="Arial" panose="020B0604020202020204" pitchFamily="34" charset="0"/>
                <a:cs typeface="Arial" panose="020B0604020202020204" pitchFamily="34" charset="0"/>
              </a:rPr>
              <a:t>Prompt:  </a:t>
            </a:r>
            <a:r>
              <a:rPr lang="en-US" sz="1200" dirty="0">
                <a:highlight>
                  <a:srgbClr val="FFFF00"/>
                </a:highligh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highlight>
                  <a:srgbClr val="FFFF00"/>
                </a:highlight>
                <a:latin typeface="Arial" panose="020B0604020202020204" pitchFamily="34" charset="0"/>
                <a:cs typeface="Arial" panose="020B0604020202020204" pitchFamily="34" charset="0"/>
              </a:rPr>
              <a:t>(max 5 slides)</a:t>
            </a:r>
          </a:p>
          <a:p>
            <a:r>
              <a:rPr lang="en-US" sz="1200" dirty="0">
                <a:highlight>
                  <a:srgbClr val="FFFF00"/>
                </a:highlight>
                <a:latin typeface="Arial" panose="020B0604020202020204" pitchFamily="34" charset="0"/>
                <a:cs typeface="Arial" panose="020B0604020202020204" pitchFamily="34" charset="0"/>
              </a:rPr>
              <a:t>Next, we conducted any necessary pre-processing on the data i.e., check for nulls, check distribution of features for any outliers</a:t>
            </a:r>
          </a:p>
          <a:p>
            <a:endParaRPr lang="en-US" sz="12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0183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DA84-FB4C-EE71-BA08-8C07B94B3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A4847-E5D8-70D0-04A0-12E505607027}"/>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32A0EEFF-E356-301E-26E1-445FB12634D5}"/>
              </a:ext>
            </a:extLst>
          </p:cNvPr>
          <p:cNvSpPr>
            <a:spLocks noGrp="1"/>
          </p:cNvSpPr>
          <p:nvPr>
            <p:ph idx="1"/>
          </p:nvPr>
        </p:nvSpPr>
        <p:spPr>
          <a:xfrm>
            <a:off x="191652" y="772679"/>
            <a:ext cx="11778673" cy="5895975"/>
          </a:xfrm>
        </p:spPr>
        <p:txBody>
          <a:bodyPr>
            <a:noAutofit/>
          </a:bodyPr>
          <a:lstStyle/>
          <a:p>
            <a:pPr marL="0" indent="0">
              <a:buNone/>
            </a:pPr>
            <a:r>
              <a:rPr lang="en-US" sz="1200" b="1" dirty="0">
                <a:highlight>
                  <a:srgbClr val="FFFF00"/>
                </a:highlight>
                <a:latin typeface="Arial" panose="020B0604020202020204" pitchFamily="34" charset="0"/>
                <a:cs typeface="Arial" panose="020B0604020202020204" pitchFamily="34" charset="0"/>
              </a:rPr>
              <a:t>Prompt:  </a:t>
            </a:r>
            <a:r>
              <a:rPr lang="en-US" sz="1200" dirty="0">
                <a:highlight>
                  <a:srgbClr val="FFFF00"/>
                </a:highligh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highlight>
                  <a:srgbClr val="FFFF00"/>
                </a:highlight>
                <a:latin typeface="Arial" panose="020B0604020202020204" pitchFamily="34" charset="0"/>
                <a:cs typeface="Arial" panose="020B0604020202020204" pitchFamily="34" charset="0"/>
              </a:rPr>
              <a:t>(max 5 slides)</a:t>
            </a:r>
          </a:p>
          <a:p>
            <a:pPr lvl="1"/>
            <a:endParaRPr lang="en-US" sz="1200" dirty="0">
              <a:highlight>
                <a:srgbClr val="FFFF00"/>
              </a:highlight>
              <a:latin typeface="Arial" panose="020B0604020202020204" pitchFamily="34" charset="0"/>
              <a:cs typeface="Arial" panose="020B0604020202020204" pitchFamily="34" charset="0"/>
            </a:endParaRPr>
          </a:p>
          <a:p>
            <a:r>
              <a:rPr lang="en-US" sz="1200" dirty="0">
                <a:highlight>
                  <a:srgbClr val="FFFF00"/>
                </a:highlight>
                <a:latin typeface="Arial" panose="020B0604020202020204" pitchFamily="34" charset="0"/>
                <a:cs typeface="Arial" panose="020B0604020202020204" pitchFamily="34" charset="0"/>
              </a:rPr>
              <a:t>We code our regression problem. </a:t>
            </a:r>
          </a:p>
          <a:p>
            <a:r>
              <a:rPr lang="en-US" sz="1200" b="1" dirty="0">
                <a:highlight>
                  <a:srgbClr val="FFFF00"/>
                </a:highlight>
                <a:latin typeface="Arial" panose="020B0604020202020204" pitchFamily="34" charset="0"/>
                <a:cs typeface="Arial" panose="020B0604020202020204" pitchFamily="34" charset="0"/>
              </a:rPr>
              <a:t>V1 plots (before we transformed our data into the actual proper form). </a:t>
            </a:r>
            <a:r>
              <a:rPr lang="en-US" sz="1200" dirty="0">
                <a:highlight>
                  <a:srgbClr val="FFFF00"/>
                </a:highlight>
                <a:latin typeface="Arial" panose="020B0604020202020204" pitchFamily="34" charset="0"/>
                <a:cs typeface="Arial" panose="020B0604020202020204" pitchFamily="34" charset="0"/>
              </a:rPr>
              <a:t>We display our plots of MSE (cost function) against iteration number for both base and L2 regularization. </a:t>
            </a:r>
          </a:p>
          <a:p>
            <a:endParaRPr lang="en-US" sz="1200" dirty="0">
              <a:highlight>
                <a:srgbClr val="FFFF00"/>
              </a:highlight>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DE77D45-8F92-EADF-3BEE-6CB2AEC50FF3}"/>
              </a:ext>
            </a:extLst>
          </p:cNvPr>
          <p:cNvPicPr>
            <a:picLocks noChangeAspect="1"/>
          </p:cNvPicPr>
          <p:nvPr/>
        </p:nvPicPr>
        <p:blipFill>
          <a:blip r:embed="rId2"/>
          <a:stretch>
            <a:fillRect/>
          </a:stretch>
        </p:blipFill>
        <p:spPr>
          <a:xfrm>
            <a:off x="460096" y="2441447"/>
            <a:ext cx="5007421" cy="2747737"/>
          </a:xfrm>
          <a:prstGeom prst="rect">
            <a:avLst/>
          </a:prstGeom>
        </p:spPr>
      </p:pic>
      <p:pic>
        <p:nvPicPr>
          <p:cNvPr id="7" name="Picture 6">
            <a:extLst>
              <a:ext uri="{FF2B5EF4-FFF2-40B4-BE49-F238E27FC236}">
                <a16:creationId xmlns:a16="http://schemas.microsoft.com/office/drawing/2014/main" id="{BCE9F2E5-87A0-00CB-1A3E-FDAE826A3134}"/>
              </a:ext>
            </a:extLst>
          </p:cNvPr>
          <p:cNvPicPr>
            <a:picLocks noChangeAspect="1"/>
          </p:cNvPicPr>
          <p:nvPr/>
        </p:nvPicPr>
        <p:blipFill>
          <a:blip r:embed="rId3"/>
          <a:stretch>
            <a:fillRect/>
          </a:stretch>
        </p:blipFill>
        <p:spPr>
          <a:xfrm>
            <a:off x="6080988" y="2441446"/>
            <a:ext cx="5007421" cy="2747737"/>
          </a:xfrm>
          <a:prstGeom prst="rect">
            <a:avLst/>
          </a:prstGeom>
        </p:spPr>
      </p:pic>
    </p:spTree>
    <p:extLst>
      <p:ext uri="{BB962C8B-B14F-4D97-AF65-F5344CB8AC3E}">
        <p14:creationId xmlns:p14="http://schemas.microsoft.com/office/powerpoint/2010/main" val="1450420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18F91-EEE8-F5F0-D88F-87AC40CE80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2C70F-794D-C71B-045E-C917ED0D0A4C}"/>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4A62105E-00D3-23A5-9B25-A97715916655}"/>
              </a:ext>
            </a:extLst>
          </p:cNvPr>
          <p:cNvSpPr>
            <a:spLocks noGrp="1"/>
          </p:cNvSpPr>
          <p:nvPr>
            <p:ph idx="1"/>
          </p:nvPr>
        </p:nvSpPr>
        <p:spPr>
          <a:xfrm>
            <a:off x="191652" y="772679"/>
            <a:ext cx="11778673" cy="5895975"/>
          </a:xfrm>
        </p:spPr>
        <p:txBody>
          <a:bodyPr>
            <a:normAutofit/>
          </a:bodyPr>
          <a:lstStyle/>
          <a:p>
            <a:pPr marL="0" indent="0">
              <a:buNone/>
            </a:pPr>
            <a:r>
              <a:rPr lang="en-US" sz="1200" b="1" dirty="0">
                <a:highlight>
                  <a:srgbClr val="FFFF00"/>
                </a:highlight>
                <a:latin typeface="Arial" panose="020B0604020202020204" pitchFamily="34" charset="0"/>
                <a:cs typeface="Arial" panose="020B0604020202020204" pitchFamily="34" charset="0"/>
              </a:rPr>
              <a:t>Prompt:  </a:t>
            </a:r>
            <a:r>
              <a:rPr lang="en-US" sz="1200" dirty="0">
                <a:highlight>
                  <a:srgbClr val="FFFF00"/>
                </a:highligh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highlight>
                  <a:srgbClr val="FFFF00"/>
                </a:highlight>
                <a:latin typeface="Arial" panose="020B0604020202020204" pitchFamily="34" charset="0"/>
                <a:cs typeface="Arial" panose="020B0604020202020204" pitchFamily="34" charset="0"/>
              </a:rPr>
              <a:t>(max 5 slides)</a:t>
            </a:r>
          </a:p>
          <a:p>
            <a:r>
              <a:rPr lang="en-US" sz="1200" dirty="0">
                <a:latin typeface="Arial" panose="020B0604020202020204" pitchFamily="34" charset="0"/>
                <a:cs typeface="Arial" panose="020B0604020202020204" pitchFamily="34" charset="0"/>
              </a:rPr>
              <a:t>Next, we conducted any necessary pre-processing on the data i.e., check for nulls, check distribution of features for any outliers</a:t>
            </a:r>
          </a:p>
          <a:p>
            <a:r>
              <a:rPr lang="en-US" sz="1200" dirty="0">
                <a:latin typeface="Arial" panose="020B0604020202020204" pitchFamily="34" charset="0"/>
                <a:cs typeface="Arial" panose="020B0604020202020204" pitchFamily="34" charset="0"/>
              </a:rPr>
              <a:t>Reason: This was because we will ultimately run a regularized Linear Regression algorithm, which is sensitive to outliers.</a:t>
            </a:r>
          </a:p>
          <a:p>
            <a:endParaRPr lang="en-US" sz="1200" dirty="0">
              <a:latin typeface="Arial" panose="020B0604020202020204" pitchFamily="34" charset="0"/>
              <a:cs typeface="Arial" panose="020B0604020202020204" pitchFamily="34" charset="0"/>
            </a:endParaRPr>
          </a:p>
          <a:p>
            <a:r>
              <a:rPr lang="en-US" sz="1200" b="1" dirty="0">
                <a:highlight>
                  <a:srgbClr val="FFFF00"/>
                </a:highlight>
                <a:latin typeface="Arial" panose="020B0604020202020204" pitchFamily="34" charset="0"/>
                <a:cs typeface="Arial" panose="020B0604020202020204" pitchFamily="34" charset="0"/>
              </a:rPr>
              <a:t>We prepare our data for training </a:t>
            </a:r>
          </a:p>
          <a:p>
            <a:pPr lvl="1"/>
            <a:r>
              <a:rPr lang="en-US" sz="1200" b="1" dirty="0">
                <a:highlight>
                  <a:srgbClr val="FFFF00"/>
                </a:highlight>
                <a:latin typeface="Arial" panose="020B0604020202020204" pitchFamily="34" charset="0"/>
                <a:cs typeface="Arial" panose="020B0604020202020204" pitchFamily="34" charset="0"/>
              </a:rPr>
              <a:t>To conduct our training, we use stratified sampling across patient, and a time-based ordered split to preserve temporal order in the data. </a:t>
            </a:r>
          </a:p>
          <a:p>
            <a:pPr lvl="1"/>
            <a:r>
              <a:rPr lang="en-US" sz="1200" dirty="0">
                <a:highlight>
                  <a:srgbClr val="FFFF00"/>
                </a:highlight>
                <a:latin typeface="Arial" panose="020B0604020202020204" pitchFamily="34" charset="0"/>
                <a:cs typeface="Arial" panose="020B0604020202020204" pitchFamily="34" charset="0"/>
              </a:rPr>
              <a:t>Next, we define our target variable as the ‘Level of blood glucose measurement’. </a:t>
            </a:r>
          </a:p>
          <a:p>
            <a:pPr lvl="1"/>
            <a:r>
              <a:rPr lang="en-US" sz="1200" dirty="0">
                <a:highlight>
                  <a:srgbClr val="FFFF00"/>
                </a:highlight>
                <a:latin typeface="Arial" panose="020B0604020202020204" pitchFamily="34" charset="0"/>
                <a:cs typeface="Arial" panose="020B0604020202020204" pitchFamily="34" charset="0"/>
              </a:rPr>
              <a:t>Given that in the data set, we have multiple measurement columns, our first challenge is to determine what we should use as the target level which would be representative of the patient given their specific glucose indicators. </a:t>
            </a:r>
          </a:p>
          <a:p>
            <a:pPr lvl="2"/>
            <a:r>
              <a:rPr lang="en-US" sz="1200" dirty="0">
                <a:highlight>
                  <a:srgbClr val="FFFF00"/>
                </a:highlight>
                <a:latin typeface="Arial" panose="020B0604020202020204" pitchFamily="34" charset="0"/>
                <a:cs typeface="Arial" panose="020B0604020202020204" pitchFamily="34" charset="0"/>
              </a:rPr>
              <a:t>48 = Unspecified blood glucose measurement </a:t>
            </a:r>
          </a:p>
          <a:p>
            <a:pPr lvl="2"/>
            <a:r>
              <a:rPr lang="en-US" sz="1200" dirty="0">
                <a:highlight>
                  <a:srgbClr val="FFFF00"/>
                </a:highlight>
                <a:latin typeface="Arial" panose="020B0604020202020204" pitchFamily="34" charset="0"/>
                <a:cs typeface="Arial" panose="020B0604020202020204" pitchFamily="34" charset="0"/>
              </a:rPr>
              <a:t>57 = Unspecified blood glucose measurement </a:t>
            </a:r>
          </a:p>
          <a:p>
            <a:pPr lvl="2"/>
            <a:r>
              <a:rPr lang="en-US" sz="1200" dirty="0">
                <a:highlight>
                  <a:srgbClr val="FFFF00"/>
                </a:highlight>
                <a:latin typeface="Arial" panose="020B0604020202020204" pitchFamily="34" charset="0"/>
                <a:cs typeface="Arial" panose="020B0604020202020204" pitchFamily="34" charset="0"/>
              </a:rPr>
              <a:t>58 = Pre-breakfast blood glucose measurement </a:t>
            </a:r>
          </a:p>
          <a:p>
            <a:pPr lvl="2"/>
            <a:r>
              <a:rPr lang="en-US" sz="1200" dirty="0">
                <a:highlight>
                  <a:srgbClr val="FFFF00"/>
                </a:highlight>
                <a:latin typeface="Arial" panose="020B0604020202020204" pitchFamily="34" charset="0"/>
                <a:cs typeface="Arial" panose="020B0604020202020204" pitchFamily="34" charset="0"/>
              </a:rPr>
              <a:t>59 = Post-breakfast blood glucose measurement </a:t>
            </a:r>
          </a:p>
          <a:p>
            <a:pPr lvl="2"/>
            <a:r>
              <a:rPr lang="en-US" sz="1200" dirty="0">
                <a:highlight>
                  <a:srgbClr val="FFFF00"/>
                </a:highlight>
                <a:latin typeface="Arial" panose="020B0604020202020204" pitchFamily="34" charset="0"/>
                <a:cs typeface="Arial" panose="020B0604020202020204" pitchFamily="34" charset="0"/>
              </a:rPr>
              <a:t>60 = Pre-lunch blood glucose measurement </a:t>
            </a:r>
          </a:p>
          <a:p>
            <a:pPr lvl="2"/>
            <a:r>
              <a:rPr lang="en-US" sz="1200" dirty="0">
                <a:highlight>
                  <a:srgbClr val="FFFF00"/>
                </a:highlight>
                <a:latin typeface="Arial" panose="020B0604020202020204" pitchFamily="34" charset="0"/>
                <a:cs typeface="Arial" panose="020B0604020202020204" pitchFamily="34" charset="0"/>
              </a:rPr>
              <a:t>61 = Post-lunch blood glucose measurement </a:t>
            </a:r>
          </a:p>
          <a:p>
            <a:pPr lvl="2"/>
            <a:r>
              <a:rPr lang="en-US" sz="1200" dirty="0">
                <a:highlight>
                  <a:srgbClr val="FFFF00"/>
                </a:highlight>
                <a:latin typeface="Arial" panose="020B0604020202020204" pitchFamily="34" charset="0"/>
                <a:cs typeface="Arial" panose="020B0604020202020204" pitchFamily="34" charset="0"/>
              </a:rPr>
              <a:t>62 = Pre-supper blood glucose measurement </a:t>
            </a:r>
          </a:p>
          <a:p>
            <a:pPr lvl="2"/>
            <a:r>
              <a:rPr lang="en-US" sz="1200" dirty="0">
                <a:highlight>
                  <a:srgbClr val="FFFF00"/>
                </a:highlight>
                <a:latin typeface="Arial" panose="020B0604020202020204" pitchFamily="34" charset="0"/>
                <a:cs typeface="Arial" panose="020B0604020202020204" pitchFamily="34" charset="0"/>
              </a:rPr>
              <a:t>63 = Post-supper blood glucose measurement </a:t>
            </a:r>
          </a:p>
          <a:p>
            <a:pPr lvl="2"/>
            <a:r>
              <a:rPr lang="en-US" sz="1200" dirty="0">
                <a:highlight>
                  <a:srgbClr val="FFFF00"/>
                </a:highlight>
                <a:latin typeface="Arial" panose="020B0604020202020204" pitchFamily="34" charset="0"/>
                <a:cs typeface="Arial" panose="020B0604020202020204" pitchFamily="34" charset="0"/>
              </a:rPr>
              <a:t>64 = Pre-snack blood glucose measurement</a:t>
            </a:r>
          </a:p>
          <a:p>
            <a:pPr lvl="1"/>
            <a:r>
              <a:rPr lang="en-US" sz="1200" b="1" dirty="0">
                <a:highlight>
                  <a:srgbClr val="FFFF00"/>
                </a:highlight>
                <a:latin typeface="Arial" panose="020B0604020202020204" pitchFamily="34" charset="0"/>
                <a:cs typeface="Arial" panose="020B0604020202020204" pitchFamily="34" charset="0"/>
              </a:rPr>
              <a:t>Solution: Let’s average the measurements per patient, per day and this is how we will predict (i.e., daily periodicity). </a:t>
            </a:r>
          </a:p>
          <a:p>
            <a:pPr lvl="1"/>
            <a:r>
              <a:rPr lang="en-US" sz="1200" dirty="0">
                <a:latin typeface="Arial" panose="020B0604020202020204" pitchFamily="34" charset="0"/>
                <a:cs typeface="Arial" panose="020B0604020202020204" pitchFamily="34" charset="0"/>
              </a:rPr>
              <a:t>We now need to define our target variable </a:t>
            </a:r>
          </a:p>
          <a:p>
            <a:pPr lvl="2"/>
            <a:r>
              <a:rPr lang="en-US" sz="1200" dirty="0">
                <a:latin typeface="Arial" panose="020B0604020202020204" pitchFamily="34" charset="0"/>
                <a:cs typeface="Arial" panose="020B0604020202020204" pitchFamily="34" charset="0"/>
              </a:rPr>
              <a:t>predict the number the optimal number of codes such that they minimize glucose levels</a:t>
            </a:r>
          </a:p>
        </p:txBody>
      </p:sp>
    </p:spTree>
    <p:extLst>
      <p:ext uri="{BB962C8B-B14F-4D97-AF65-F5344CB8AC3E}">
        <p14:creationId xmlns:p14="http://schemas.microsoft.com/office/powerpoint/2010/main" val="74608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EA67F-B217-F28D-A04E-9E42D7A606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E2B3D-DD2D-BD89-16F2-BD65080653E3}"/>
              </a:ext>
            </a:extLst>
          </p:cNvPr>
          <p:cNvSpPr>
            <a:spLocks noGrp="1"/>
          </p:cNvSpPr>
          <p:nvPr>
            <p:ph type="title"/>
          </p:nvPr>
        </p:nvSpPr>
        <p:spPr>
          <a:xfrm>
            <a:off x="191653" y="97272"/>
            <a:ext cx="11778673" cy="583766"/>
          </a:xfrm>
        </p:spPr>
        <p:txBody>
          <a:bodyPr>
            <a:normAutofit/>
          </a:bodyPr>
          <a:lstStyle/>
          <a:p>
            <a:r>
              <a:rPr lang="en-US" sz="2000" dirty="0"/>
              <a:t>Validating Solution:</a:t>
            </a:r>
          </a:p>
        </p:txBody>
      </p:sp>
      <p:sp>
        <p:nvSpPr>
          <p:cNvPr id="3" name="Content Placeholder 2">
            <a:extLst>
              <a:ext uri="{FF2B5EF4-FFF2-40B4-BE49-F238E27FC236}">
                <a16:creationId xmlns:a16="http://schemas.microsoft.com/office/drawing/2014/main" id="{DE401360-3C4B-FEDB-66D0-A786DF2D478E}"/>
              </a:ext>
            </a:extLst>
          </p:cNvPr>
          <p:cNvSpPr>
            <a:spLocks noGrp="1"/>
          </p:cNvSpPr>
          <p:nvPr>
            <p:ph idx="1"/>
          </p:nvPr>
        </p:nvSpPr>
        <p:spPr>
          <a:xfrm>
            <a:off x="191652" y="772679"/>
            <a:ext cx="11778673" cy="5895975"/>
          </a:xfrm>
        </p:spPr>
        <p:txBody>
          <a:bodyPr>
            <a:normAutofit/>
          </a:bodyPr>
          <a:lstStyle/>
          <a:p>
            <a:pPr marL="0" indent="0">
              <a:buNone/>
            </a:pPr>
            <a:r>
              <a:rPr lang="en-US" sz="1200" b="1" dirty="0">
                <a:highlight>
                  <a:srgbClr val="FFFF00"/>
                </a:highlight>
                <a:latin typeface="Arial" panose="020B0604020202020204" pitchFamily="34" charset="0"/>
                <a:cs typeface="Arial" panose="020B0604020202020204" pitchFamily="34" charset="0"/>
              </a:rPr>
              <a:t>Prompt:  </a:t>
            </a:r>
            <a:r>
              <a:rPr lang="en-US" sz="1200" dirty="0">
                <a:highlight>
                  <a:srgbClr val="FFFF00"/>
                </a:highlight>
                <a:latin typeface="Arial" panose="020B0604020202020204" pitchFamily="34" charset="0"/>
                <a:cs typeface="Arial" panose="020B0604020202020204" pitchFamily="34" charset="0"/>
              </a:rPr>
              <a:t>How did you test your solution is valid, e.g., what dataset was used, simulation details, theoretical analysis, what problems you faced, how did you overcome them? etc. </a:t>
            </a:r>
            <a:r>
              <a:rPr lang="en-US" sz="1200" b="1" dirty="0">
                <a:highlight>
                  <a:srgbClr val="FFFF00"/>
                </a:highlight>
                <a:latin typeface="Arial" panose="020B0604020202020204" pitchFamily="34" charset="0"/>
                <a:cs typeface="Arial" panose="020B0604020202020204" pitchFamily="34" charset="0"/>
              </a:rPr>
              <a:t>(max 5 slides)</a:t>
            </a:r>
          </a:p>
          <a:p>
            <a:r>
              <a:rPr lang="en-US" sz="1200" dirty="0">
                <a:latin typeface="Arial" panose="020B0604020202020204" pitchFamily="34" charset="0"/>
                <a:cs typeface="Arial" panose="020B0604020202020204" pitchFamily="34" charset="0"/>
              </a:rPr>
              <a:t>Next we split the data into training and testing sets (80%, 20% split), which is typical as seen in industry. </a:t>
            </a:r>
          </a:p>
          <a:p>
            <a:r>
              <a:rPr lang="en-US" sz="1200" dirty="0">
                <a:latin typeface="Arial" panose="020B0604020202020204" pitchFamily="34" charset="0"/>
                <a:cs typeface="Arial" panose="020B0604020202020204" pitchFamily="34" charset="0"/>
              </a:rPr>
              <a:t>We train our regularized linear regression model on the training data, where we calibrate the objective function as a penalty MSE (MSE + L2-norm penalty). </a:t>
            </a:r>
          </a:p>
          <a:p>
            <a:r>
              <a:rPr lang="en-US" sz="1200" dirty="0">
                <a:latin typeface="Arial" panose="020B0604020202020204" pitchFamily="34" charset="0"/>
                <a:cs typeface="Arial" panose="020B0604020202020204" pitchFamily="34" charset="0"/>
              </a:rPr>
              <a:t>We obtain ideal coefficients </a:t>
            </a:r>
          </a:p>
          <a:p>
            <a:r>
              <a:rPr lang="en-US" sz="1200" dirty="0">
                <a:latin typeface="Arial" panose="020B0604020202020204" pitchFamily="34" charset="0"/>
                <a:cs typeface="Arial" panose="020B0604020202020204" pitchFamily="34" charset="0"/>
              </a:rPr>
              <a:t> Testing </a:t>
            </a:r>
            <a:r>
              <a:rPr lang="en-US" sz="1200" dirty="0" err="1">
                <a:latin typeface="Arial" panose="020B0604020202020204" pitchFamily="34" charset="0"/>
                <a:cs typeface="Arial" panose="020B0604020202020204" pitchFamily="34" charset="0"/>
              </a:rPr>
              <a:t>testing</a:t>
            </a:r>
            <a:r>
              <a:rPr lang="en-US" sz="1200" dirty="0">
                <a:latin typeface="Arial" panose="020B0604020202020204" pitchFamily="34" charset="0"/>
                <a:cs typeface="Arial" panose="020B0604020202020204" pitchFamily="34" charset="0"/>
              </a:rPr>
              <a:t> 1-2 three</a:t>
            </a:r>
          </a:p>
          <a:p>
            <a:r>
              <a:rPr lang="en-US" sz="1200" dirty="0">
                <a:latin typeface="Arial" panose="020B0604020202020204" pitchFamily="34" charset="0"/>
                <a:cs typeface="Arial" panose="020B0604020202020204" pitchFamily="34" charset="0"/>
              </a:rPr>
              <a:t> We obtain ideal coefficients from our optimization which we then define as our final model and we compute the training error given by MSC</a:t>
            </a:r>
          </a:p>
          <a:p>
            <a:r>
              <a:rPr lang="en-US" sz="1200" dirty="0">
                <a:latin typeface="Arial" panose="020B0604020202020204" pitchFamily="34" charset="0"/>
                <a:cs typeface="Arial" panose="020B0604020202020204" pitchFamily="34" charset="0"/>
              </a:rPr>
              <a:t> next we compute out of sample accuracy on the test data held out the 20% and compute testing MSE</a:t>
            </a:r>
          </a:p>
        </p:txBody>
      </p:sp>
    </p:spTree>
    <p:extLst>
      <p:ext uri="{BB962C8B-B14F-4D97-AF65-F5344CB8AC3E}">
        <p14:creationId xmlns:p14="http://schemas.microsoft.com/office/powerpoint/2010/main" val="1805716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19DE8-4B26-159D-519F-CEA138E4C975}"/>
              </a:ext>
            </a:extLst>
          </p:cNvPr>
          <p:cNvSpPr>
            <a:spLocks noGrp="1"/>
          </p:cNvSpPr>
          <p:nvPr>
            <p:ph type="title"/>
          </p:nvPr>
        </p:nvSpPr>
        <p:spPr>
          <a:xfrm>
            <a:off x="450273" y="315984"/>
            <a:ext cx="10515600" cy="730106"/>
          </a:xfrm>
        </p:spPr>
        <p:txBody>
          <a:bodyPr>
            <a:normAutofit/>
          </a:bodyPr>
          <a:lstStyle/>
          <a:p>
            <a:r>
              <a:rPr lang="en-US" sz="2000" dirty="0">
                <a:latin typeface="Arial" panose="020B0604020202020204" pitchFamily="34" charset="0"/>
                <a:cs typeface="Arial" panose="020B0604020202020204" pitchFamily="34" charset="0"/>
              </a:rPr>
              <a:t>7. Key Insights</a:t>
            </a:r>
          </a:p>
        </p:txBody>
      </p:sp>
      <p:sp>
        <p:nvSpPr>
          <p:cNvPr id="3" name="Content Placeholder 2">
            <a:extLst>
              <a:ext uri="{FF2B5EF4-FFF2-40B4-BE49-F238E27FC236}">
                <a16:creationId xmlns:a16="http://schemas.microsoft.com/office/drawing/2014/main" id="{F5ED4602-B963-477D-3267-DC883AE09957}"/>
              </a:ext>
            </a:extLst>
          </p:cNvPr>
          <p:cNvSpPr>
            <a:spLocks noGrp="1"/>
          </p:cNvSpPr>
          <p:nvPr>
            <p:ph idx="1"/>
          </p:nvPr>
        </p:nvSpPr>
        <p:spPr>
          <a:xfrm>
            <a:off x="551871" y="1046090"/>
            <a:ext cx="11399983" cy="5604092"/>
          </a:xfrm>
        </p:spPr>
        <p:txBody>
          <a:bodyPr>
            <a:normAutofit/>
          </a:bodyPr>
          <a:lstStyle/>
          <a:p>
            <a:pPr marL="0" indent="0">
              <a:buNone/>
            </a:pPr>
            <a:r>
              <a:rPr lang="en-US" sz="1200" b="1" dirty="0">
                <a:latin typeface="Arial" panose="020B0604020202020204" pitchFamily="34" charset="0"/>
                <a:cs typeface="Arial" panose="020B0604020202020204" pitchFamily="34" charset="0"/>
              </a:rPr>
              <a:t>Goal:  What does your solution mean for the problem? What are the key observations you made from the solutions as applied to the problem? (max 3 slides)</a:t>
            </a:r>
          </a:p>
          <a:p>
            <a:r>
              <a:rPr lang="en-US" sz="1200" dirty="0">
                <a:latin typeface="Arial" panose="020B0604020202020204" pitchFamily="34" charset="0"/>
                <a:cs typeface="Arial" panose="020B0604020202020204" pitchFamily="34" charset="0"/>
              </a:rPr>
              <a:t>Our solution identifies the </a:t>
            </a:r>
            <a:r>
              <a:rPr lang="en-US" sz="1200" b="1" dirty="0">
                <a:latin typeface="Arial" panose="020B0604020202020204" pitchFamily="34" charset="0"/>
                <a:cs typeface="Arial" panose="020B0604020202020204" pitchFamily="34" charset="0"/>
              </a:rPr>
              <a:t>most relevant features (codes) </a:t>
            </a:r>
            <a:r>
              <a:rPr lang="en-US" sz="1200" dirty="0">
                <a:latin typeface="Arial" panose="020B0604020202020204" pitchFamily="34" charset="0"/>
                <a:cs typeface="Arial" panose="020B0604020202020204" pitchFamily="34" charset="0"/>
              </a:rPr>
              <a:t>to determining the </a:t>
            </a:r>
            <a:r>
              <a:rPr lang="en-US" sz="1200" b="1" dirty="0">
                <a:latin typeface="Arial" panose="020B0604020202020204" pitchFamily="34" charset="0"/>
                <a:cs typeface="Arial" panose="020B0604020202020204" pitchFamily="34" charset="0"/>
              </a:rPr>
              <a:t>blood glucose level</a:t>
            </a:r>
            <a:r>
              <a:rPr lang="en-US" sz="1200" dirty="0">
                <a:latin typeface="Arial" panose="020B0604020202020204" pitchFamily="34" charset="0"/>
                <a:cs typeface="Arial" panose="020B0604020202020204" pitchFamily="34" charset="0"/>
              </a:rPr>
              <a:t>. </a:t>
            </a:r>
          </a:p>
          <a:p>
            <a:r>
              <a:rPr lang="en-US" sz="1200" dirty="0">
                <a:latin typeface="Arial" panose="020B0604020202020204" pitchFamily="34" charset="0"/>
                <a:cs typeface="Arial" panose="020B0604020202020204" pitchFamily="34" charset="0"/>
              </a:rPr>
              <a:t>We need to compute the accuracy of our model:</a:t>
            </a:r>
          </a:p>
          <a:p>
            <a:pPr lvl="1"/>
            <a:r>
              <a:rPr lang="en-US" sz="800" dirty="0">
                <a:latin typeface="Arial" panose="020B0604020202020204" pitchFamily="34" charset="0"/>
                <a:cs typeface="Arial" panose="020B0604020202020204" pitchFamily="34" charset="0"/>
              </a:rPr>
              <a:t>We split the data into training and testing </a:t>
            </a:r>
          </a:p>
          <a:p>
            <a:pPr lvl="1"/>
            <a:r>
              <a:rPr lang="en-US" sz="800" dirty="0">
                <a:highlight>
                  <a:srgbClr val="FFFF00"/>
                </a:highlight>
                <a:latin typeface="Arial" panose="020B0604020202020204" pitchFamily="34" charset="0"/>
                <a:cs typeface="Arial" panose="020B0604020202020204" pitchFamily="34" charset="0"/>
              </a:rPr>
              <a:t>We just need to run the testing </a:t>
            </a:r>
            <a:r>
              <a:rPr lang="en-US" sz="800" dirty="0" err="1">
                <a:highlight>
                  <a:srgbClr val="FFFF00"/>
                </a:highlight>
                <a:latin typeface="Arial" panose="020B0604020202020204" pitchFamily="34" charset="0"/>
                <a:cs typeface="Arial" panose="020B0604020202020204" pitchFamily="34" charset="0"/>
              </a:rPr>
              <a:t>predctions</a:t>
            </a:r>
            <a:r>
              <a:rPr lang="en-US" sz="800" dirty="0">
                <a:highlight>
                  <a:srgbClr val="FFFF00"/>
                </a:highlight>
                <a:latin typeface="Arial" panose="020B0604020202020204" pitchFamily="34" charset="0"/>
                <a:cs typeface="Arial" panose="020B0604020202020204" pitchFamily="34" charset="0"/>
              </a:rPr>
              <a:t> </a:t>
            </a:r>
          </a:p>
          <a:p>
            <a:r>
              <a:rPr lang="en-US" sz="1200" dirty="0">
                <a:highlight>
                  <a:srgbClr val="FFFF00"/>
                </a:highlight>
                <a:latin typeface="Arial" panose="020B0604020202020204" pitchFamily="34" charset="0"/>
                <a:cs typeface="Arial" panose="020B0604020202020204" pitchFamily="34" charset="0"/>
              </a:rPr>
              <a:t>Ahmad – look at using PCA to identifying them most relevant codes to blood glucose level. </a:t>
            </a:r>
          </a:p>
        </p:txBody>
      </p:sp>
    </p:spTree>
    <p:extLst>
      <p:ext uri="{BB962C8B-B14F-4D97-AF65-F5344CB8AC3E}">
        <p14:creationId xmlns:p14="http://schemas.microsoft.com/office/powerpoint/2010/main" val="1023218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96A28-FDEA-BC33-31EC-35E73B294FAC}"/>
              </a:ext>
            </a:extLst>
          </p:cNvPr>
          <p:cNvSpPr>
            <a:spLocks noGrp="1"/>
          </p:cNvSpPr>
          <p:nvPr>
            <p:ph type="title"/>
          </p:nvPr>
        </p:nvSpPr>
        <p:spPr>
          <a:xfrm>
            <a:off x="394854" y="471054"/>
            <a:ext cx="10515600" cy="563852"/>
          </a:xfrm>
        </p:spPr>
        <p:txBody>
          <a:bodyPr>
            <a:normAutofit/>
          </a:bodyPr>
          <a:lstStyle/>
          <a:p>
            <a:r>
              <a:rPr lang="en-US" sz="2000" dirty="0">
                <a:latin typeface="Arial" panose="020B0604020202020204" pitchFamily="34" charset="0"/>
                <a:cs typeface="Arial" panose="020B0604020202020204" pitchFamily="34" charset="0"/>
              </a:rPr>
              <a:t>8. Major Conclusions</a:t>
            </a:r>
          </a:p>
        </p:txBody>
      </p:sp>
      <p:sp>
        <p:nvSpPr>
          <p:cNvPr id="3" name="Content Placeholder 2">
            <a:extLst>
              <a:ext uri="{FF2B5EF4-FFF2-40B4-BE49-F238E27FC236}">
                <a16:creationId xmlns:a16="http://schemas.microsoft.com/office/drawing/2014/main" id="{BCD3E9BC-E506-5351-3C82-92A845CBE972}"/>
              </a:ext>
            </a:extLst>
          </p:cNvPr>
          <p:cNvSpPr>
            <a:spLocks noGrp="1"/>
          </p:cNvSpPr>
          <p:nvPr>
            <p:ph idx="1"/>
          </p:nvPr>
        </p:nvSpPr>
        <p:spPr>
          <a:xfrm>
            <a:off x="394853" y="1188316"/>
            <a:ext cx="11510819" cy="5406448"/>
          </a:xfrm>
        </p:spPr>
        <p:txBody>
          <a:bodyPr>
            <a:normAutofit/>
          </a:bodyPr>
          <a:lstStyle/>
          <a:p>
            <a:pPr marL="0" indent="0">
              <a:buNone/>
            </a:pPr>
            <a:r>
              <a:rPr lang="en-US" sz="1200" b="1" dirty="0">
                <a:latin typeface="Arial" panose="020B0604020202020204" pitchFamily="34" charset="0"/>
                <a:cs typeface="Arial" panose="020B0604020202020204" pitchFamily="34" charset="0"/>
              </a:rPr>
              <a:t>Goal: was your approach viable? Did you run into any difficulties such as infeasibility, numerical instability, unexpected results, etc. (2 slide)</a:t>
            </a:r>
            <a:r>
              <a:rPr lang="en-US" sz="1200" dirty="0">
                <a:latin typeface="Arial" panose="020B0604020202020204" pitchFamily="34" charset="0"/>
                <a:cs typeface="Arial" panose="020B0604020202020204" pitchFamily="34" charset="0"/>
              </a:rPr>
              <a:t> </a:t>
            </a:r>
          </a:p>
          <a:p>
            <a:r>
              <a:rPr lang="en-US" sz="1200" b="1" dirty="0">
                <a:latin typeface="Arial" panose="020B0604020202020204" pitchFamily="34" charset="0"/>
                <a:cs typeface="Arial" panose="020B0604020202020204" pitchFamily="34" charset="0"/>
              </a:rPr>
              <a:t>xxx</a:t>
            </a:r>
          </a:p>
        </p:txBody>
      </p:sp>
    </p:spTree>
    <p:extLst>
      <p:ext uri="{BB962C8B-B14F-4D97-AF65-F5344CB8AC3E}">
        <p14:creationId xmlns:p14="http://schemas.microsoft.com/office/powerpoint/2010/main" val="3210933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470BA-B553-ACE0-C544-3A8D68AC8737}"/>
              </a:ext>
            </a:extLst>
          </p:cNvPr>
          <p:cNvSpPr>
            <a:spLocks noGrp="1"/>
          </p:cNvSpPr>
          <p:nvPr>
            <p:ph type="title"/>
          </p:nvPr>
        </p:nvSpPr>
        <p:spPr>
          <a:xfrm>
            <a:off x="394854" y="245053"/>
            <a:ext cx="10515600" cy="687820"/>
          </a:xfrm>
        </p:spPr>
        <p:txBody>
          <a:bodyPr>
            <a:normAutofit/>
          </a:bodyPr>
          <a:lstStyle/>
          <a:p>
            <a:r>
              <a:rPr lang="en-US" sz="2000" dirty="0">
                <a:latin typeface="Arial" panose="020B0604020202020204" pitchFamily="34" charset="0"/>
                <a:cs typeface="Arial" panose="020B0604020202020204" pitchFamily="34" charset="0"/>
              </a:rPr>
              <a:t>9. Suggestions for Improvement and Future Work</a:t>
            </a:r>
          </a:p>
        </p:txBody>
      </p:sp>
      <p:sp>
        <p:nvSpPr>
          <p:cNvPr id="3" name="Content Placeholder 2">
            <a:extLst>
              <a:ext uri="{FF2B5EF4-FFF2-40B4-BE49-F238E27FC236}">
                <a16:creationId xmlns:a16="http://schemas.microsoft.com/office/drawing/2014/main" id="{3B087C1F-BAB1-161F-7774-8E96B7C297F8}"/>
              </a:ext>
            </a:extLst>
          </p:cNvPr>
          <p:cNvSpPr>
            <a:spLocks noGrp="1"/>
          </p:cNvSpPr>
          <p:nvPr>
            <p:ph idx="1"/>
          </p:nvPr>
        </p:nvSpPr>
        <p:spPr>
          <a:xfrm>
            <a:off x="394854" y="932873"/>
            <a:ext cx="11547764" cy="5430982"/>
          </a:xfrm>
        </p:spPr>
        <p:txBody>
          <a:bodyPr>
            <a:normAutofit/>
          </a:bodyPr>
          <a:lstStyle/>
          <a:p>
            <a:pPr marL="0" indent="0">
              <a:buNone/>
            </a:pPr>
            <a:r>
              <a:rPr lang="en-US" sz="1200" b="1" dirty="0">
                <a:latin typeface="Arial" panose="020B0604020202020204" pitchFamily="34" charset="0"/>
                <a:cs typeface="Arial" panose="020B0604020202020204" pitchFamily="34" charset="0"/>
              </a:rPr>
              <a:t>Goal:  if you had more time and resources what would you have done to solve the problem? e.g., considered a more realistic model, used a larger dataset, implemented a working prototype, launched a startup and become a billionaire! (1 slide)</a:t>
            </a:r>
          </a:p>
          <a:p>
            <a:r>
              <a:rPr lang="en-US" sz="1200" dirty="0">
                <a:latin typeface="Arial" panose="020B0604020202020204" pitchFamily="34" charset="0"/>
                <a:cs typeface="Arial" panose="020B0604020202020204" pitchFamily="34" charset="0"/>
              </a:rPr>
              <a:t>xxx</a:t>
            </a:r>
          </a:p>
        </p:txBody>
      </p:sp>
    </p:spTree>
    <p:extLst>
      <p:ext uri="{BB962C8B-B14F-4D97-AF65-F5344CB8AC3E}">
        <p14:creationId xmlns:p14="http://schemas.microsoft.com/office/powerpoint/2010/main" val="1474734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5E17-F703-4255-FF7D-742880F6D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BA8A9-2B4F-5102-99EB-A6020B9E440D}"/>
              </a:ext>
            </a:extLst>
          </p:cNvPr>
          <p:cNvSpPr>
            <a:spLocks noGrp="1"/>
          </p:cNvSpPr>
          <p:nvPr>
            <p:ph type="title"/>
          </p:nvPr>
        </p:nvSpPr>
        <p:spPr/>
        <p:txBody>
          <a:bodyPr/>
          <a:lstStyle/>
          <a:p>
            <a:r>
              <a:rPr lang="en-US" dirty="0"/>
              <a:t>Data Sourcing</a:t>
            </a:r>
          </a:p>
        </p:txBody>
      </p:sp>
      <p:sp>
        <p:nvSpPr>
          <p:cNvPr id="3" name="Content Placeholder 2">
            <a:extLst>
              <a:ext uri="{FF2B5EF4-FFF2-40B4-BE49-F238E27FC236}">
                <a16:creationId xmlns:a16="http://schemas.microsoft.com/office/drawing/2014/main" id="{D1C48DD8-E8AC-B544-07CC-63E22DEF6800}"/>
              </a:ext>
            </a:extLst>
          </p:cNvPr>
          <p:cNvSpPr>
            <a:spLocks noGrp="1"/>
          </p:cNvSpPr>
          <p:nvPr>
            <p:ph idx="1"/>
          </p:nvPr>
        </p:nvSpPr>
        <p:spPr/>
        <p:txBody>
          <a:bodyPr>
            <a:normAutofit/>
          </a:bodyPr>
          <a:lstStyle/>
          <a:p>
            <a:r>
              <a:rPr lang="en-US" dirty="0"/>
              <a:t> </a:t>
            </a:r>
            <a:r>
              <a:rPr lang="en-US" b="1" dirty="0"/>
              <a:t>DATASETS: </a:t>
            </a:r>
            <a:endParaRPr lang="en-US" dirty="0"/>
          </a:p>
          <a:p>
            <a:r>
              <a:rPr lang="en-US" dirty="0"/>
              <a:t>You are responsible for finding a dataset to use for your project. Places where you can look for data include: Kaggle competitions, Reddit forums have discussions on these topics. </a:t>
            </a:r>
          </a:p>
          <a:p>
            <a:r>
              <a:rPr lang="en-US" b="1" dirty="0"/>
              <a:t>Some helpful info</a:t>
            </a:r>
            <a:r>
              <a:rPr lang="en-US" dirty="0"/>
              <a:t>: </a:t>
            </a:r>
          </a:p>
          <a:p>
            <a:r>
              <a:rPr lang="en-US" dirty="0">
                <a:hlinkClick r:id="rId2"/>
              </a:rPr>
              <a:t>https://www.kaggle.com/datasets?tags=15002-Optimization</a:t>
            </a:r>
            <a:r>
              <a:rPr lang="en-US" dirty="0"/>
              <a:t> </a:t>
            </a:r>
          </a:p>
          <a:p>
            <a:r>
              <a:rPr lang="en-US" dirty="0">
                <a:hlinkClick r:id="rId3"/>
              </a:rPr>
              <a:t>https://openreview.net/pdf?id=PghuCwnjF6y</a:t>
            </a:r>
            <a:r>
              <a:rPr lang="en-US" dirty="0"/>
              <a:t> </a:t>
            </a:r>
          </a:p>
          <a:p>
            <a:r>
              <a:rPr lang="en-US" dirty="0">
                <a:hlinkClick r:id="rId4"/>
              </a:rPr>
              <a:t>https://gray.mgh.harvard.edu/research/optimization/227-cort</a:t>
            </a:r>
            <a:r>
              <a:rPr lang="en-US" dirty="0"/>
              <a:t> </a:t>
            </a:r>
          </a:p>
        </p:txBody>
      </p:sp>
    </p:spTree>
    <p:extLst>
      <p:ext uri="{BB962C8B-B14F-4D97-AF65-F5344CB8AC3E}">
        <p14:creationId xmlns:p14="http://schemas.microsoft.com/office/powerpoint/2010/main" val="4252516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0812B-44DD-584E-D37A-1AF5EFCC9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F3B88-D56A-0DD0-B597-D5F0E7ECD3F2}"/>
              </a:ext>
            </a:extLst>
          </p:cNvPr>
          <p:cNvSpPr>
            <a:spLocks noGrp="1"/>
          </p:cNvSpPr>
          <p:nvPr>
            <p:ph type="title"/>
          </p:nvPr>
        </p:nvSpPr>
        <p:spPr>
          <a:xfrm>
            <a:off x="191653" y="23382"/>
            <a:ext cx="11778673" cy="583766"/>
          </a:xfrm>
        </p:spPr>
        <p:txBody>
          <a:bodyPr>
            <a:normAutofit/>
          </a:bodyPr>
          <a:lstStyle/>
          <a:p>
            <a:pPr>
              <a:lnSpc>
                <a:spcPts val="1200"/>
              </a:lnSpc>
            </a:pPr>
            <a:r>
              <a:rPr lang="en-US" sz="2000" b="1" dirty="0">
                <a:latin typeface="Arial" panose="020B0604020202020204" pitchFamily="34" charset="0"/>
                <a:cs typeface="Arial" panose="020B0604020202020204" pitchFamily="34" charset="0"/>
              </a:rPr>
              <a:t>Overview of the data (per the domain description file):</a:t>
            </a:r>
            <a:endParaRPr lang="en-US"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037BA54-CA38-0B63-AAAA-FEB9182D1E84}"/>
              </a:ext>
            </a:extLst>
          </p:cNvPr>
          <p:cNvSpPr>
            <a:spLocks noGrp="1"/>
          </p:cNvSpPr>
          <p:nvPr>
            <p:ph idx="1"/>
          </p:nvPr>
        </p:nvSpPr>
        <p:spPr>
          <a:xfrm>
            <a:off x="191653" y="481012"/>
            <a:ext cx="11778673" cy="5895975"/>
          </a:xfrm>
        </p:spPr>
        <p:txBody>
          <a:bodyPr>
            <a:noAutofit/>
          </a:bodyPr>
          <a:lstStyle/>
          <a:p>
            <a:pPr>
              <a:lnSpc>
                <a:spcPts val="1200"/>
              </a:lnSpc>
            </a:pPr>
            <a:r>
              <a:rPr lang="en-US" sz="1100" dirty="0">
                <a:highlight>
                  <a:srgbClr val="FFFF00"/>
                </a:highlight>
                <a:latin typeface="Arial" panose="020B0604020202020204" pitchFamily="34" charset="0"/>
                <a:cs typeface="Arial" panose="020B0604020202020204" pitchFamily="34" charset="0"/>
              </a:rPr>
              <a:t>Patients with IDDM are insulin deficient</a:t>
            </a:r>
            <a:r>
              <a:rPr lang="en-US" sz="1100" dirty="0">
                <a:latin typeface="Arial" panose="020B0604020202020204" pitchFamily="34" charset="0"/>
                <a:cs typeface="Arial" panose="020B0604020202020204" pitchFamily="34" charset="0"/>
              </a:rPr>
              <a:t>. This can either be due to a) low or absent production of insulin by the beta islet cells of the pancreas subsequent to an auto-immune attack or b) insulin-resistance, typically associated with older age and obesity, which leads to a relative insulin-deficiency even though the insulin levels might be normal. Regardless of cause, the lack of adequate insulin effect has multiple metabolic effects. However, once a patient is diagnosed and is receiving regularly scheduled exogenous (externally administered) insulin, the </a:t>
            </a:r>
            <a:r>
              <a:rPr lang="en-US" sz="1100" dirty="0">
                <a:highlight>
                  <a:srgbClr val="FFFF00"/>
                </a:highlight>
                <a:latin typeface="Arial" panose="020B0604020202020204" pitchFamily="34" charset="0"/>
                <a:cs typeface="Arial" panose="020B0604020202020204" pitchFamily="34" charset="0"/>
              </a:rPr>
              <a:t>principal metabolic effect of concern is the potential for hyperglycemia (high blood glucose). </a:t>
            </a:r>
            <a:r>
              <a:rPr lang="en-US" sz="1100" dirty="0">
                <a:latin typeface="Arial" panose="020B0604020202020204" pitchFamily="34" charset="0"/>
                <a:cs typeface="Arial" panose="020B0604020202020204" pitchFamily="34" charset="0"/>
              </a:rPr>
              <a:t>Chronic hyperglycemia over a period of several years puts a patient at risk for several kinds of micro and macrovascular problems (e.g. retinopathy). Consequently, the </a:t>
            </a:r>
            <a:r>
              <a:rPr lang="en-US" sz="1100" dirty="0">
                <a:highlight>
                  <a:srgbClr val="FFFF00"/>
                </a:highlight>
                <a:latin typeface="Arial" panose="020B0604020202020204" pitchFamily="34" charset="0"/>
                <a:cs typeface="Arial" panose="020B0604020202020204" pitchFamily="34" charset="0"/>
              </a:rPr>
              <a:t>goal of therapy for IDDM is to bring the average blood glucose as close to the normal range as possible</a:t>
            </a:r>
            <a:r>
              <a:rPr lang="en-US" sz="1100" dirty="0">
                <a:latin typeface="Arial" panose="020B0604020202020204" pitchFamily="34" charset="0"/>
                <a:cs typeface="Arial" panose="020B0604020202020204" pitchFamily="34" charset="0"/>
              </a:rPr>
              <a:t>. As explained below, current therapy makes this goal a very challenging (and often frustrating) one for most patients. One important consideration is that due to the inevitable variation of blood glucose (BG) around the mean, a lower mean will result in a higher frequency of unpleasant and sometimes dangerous low BG levels. </a:t>
            </a:r>
          </a:p>
          <a:p>
            <a:pPr>
              <a:lnSpc>
                <a:spcPts val="1200"/>
              </a:lnSpc>
            </a:pPr>
            <a:r>
              <a:rPr lang="en-US" sz="1100" b="1" dirty="0">
                <a:latin typeface="Arial" panose="020B0604020202020204" pitchFamily="34" charset="0"/>
                <a:cs typeface="Arial" panose="020B0604020202020204" pitchFamily="34" charset="0"/>
              </a:rPr>
              <a:t>Outpatient management</a:t>
            </a:r>
            <a:r>
              <a:rPr lang="en-US" sz="1100" dirty="0">
                <a:latin typeface="Arial" panose="020B0604020202020204" pitchFamily="34" charset="0"/>
                <a:cs typeface="Arial" panose="020B0604020202020204" pitchFamily="34" charset="0"/>
              </a:rPr>
              <a:t>. Outpatient management of IDDM </a:t>
            </a:r>
            <a:r>
              <a:rPr lang="en-US" sz="1100" b="1" dirty="0">
                <a:latin typeface="Arial" panose="020B0604020202020204" pitchFamily="34" charset="0"/>
                <a:cs typeface="Arial" panose="020B0604020202020204" pitchFamily="34" charset="0"/>
              </a:rPr>
              <a:t>relies principally on three interventions: diet, </a:t>
            </a:r>
            <a:r>
              <a:rPr lang="en-US" sz="1100" b="1" dirty="0" err="1">
                <a:latin typeface="Arial" panose="020B0604020202020204" pitchFamily="34" charset="0"/>
                <a:cs typeface="Arial" panose="020B0604020202020204" pitchFamily="34" charset="0"/>
              </a:rPr>
              <a:t>excercise</a:t>
            </a:r>
            <a:r>
              <a:rPr lang="en-US" sz="1100" b="1" dirty="0">
                <a:latin typeface="Arial" panose="020B0604020202020204" pitchFamily="34" charset="0"/>
                <a:cs typeface="Arial" panose="020B0604020202020204" pitchFamily="34" charset="0"/>
              </a:rPr>
              <a:t> and exogenous insulin</a:t>
            </a:r>
            <a:r>
              <a:rPr lang="en-US" sz="1100" dirty="0">
                <a:latin typeface="Arial" panose="020B0604020202020204" pitchFamily="34" charset="0"/>
                <a:cs typeface="Arial" panose="020B0604020202020204" pitchFamily="34" charset="0"/>
              </a:rPr>
              <a:t>. Proper treatment requires careful consideration of all three interventions. </a:t>
            </a:r>
            <a:r>
              <a:rPr lang="en-US" sz="1100" dirty="0">
                <a:highlight>
                  <a:srgbClr val="FFFF00"/>
                </a:highlight>
                <a:latin typeface="Arial" panose="020B0604020202020204" pitchFamily="34" charset="0"/>
                <a:cs typeface="Arial" panose="020B0604020202020204" pitchFamily="34" charset="0"/>
              </a:rPr>
              <a:t>This is basically our target variable, measured by seeking to bring glucose levels to within normal range (e.g., mean).</a:t>
            </a:r>
          </a:p>
          <a:p>
            <a:pPr>
              <a:lnSpc>
                <a:spcPts val="1200"/>
              </a:lnSpc>
            </a:pPr>
            <a:r>
              <a:rPr lang="en-US" sz="1100" b="1" dirty="0">
                <a:latin typeface="Arial" panose="020B0604020202020204" pitchFamily="34" charset="0"/>
                <a:cs typeface="Arial" panose="020B0604020202020204" pitchFamily="34" charset="0"/>
              </a:rPr>
              <a:t>INSULIN</a:t>
            </a:r>
            <a:r>
              <a:rPr lang="en-US" sz="1100" dirty="0">
                <a:latin typeface="Arial" panose="020B0604020202020204" pitchFamily="34" charset="0"/>
                <a:cs typeface="Arial" panose="020B0604020202020204" pitchFamily="34" charset="0"/>
              </a:rPr>
              <a:t> One of insulin's principal effects is to increase the uptake of glucose in many of the tissues (e.g. in adipose/fat tissue) and thereby </a:t>
            </a:r>
            <a:r>
              <a:rPr lang="en-US" sz="1100" dirty="0">
                <a:highlight>
                  <a:srgbClr val="FFFF00"/>
                </a:highlight>
                <a:latin typeface="Arial" panose="020B0604020202020204" pitchFamily="34" charset="0"/>
                <a:cs typeface="Arial" panose="020B0604020202020204" pitchFamily="34" charset="0"/>
              </a:rPr>
              <a:t>reduce the concentration glucose in blood</a:t>
            </a:r>
            <a:r>
              <a:rPr lang="en-US" sz="1100" dirty="0">
                <a:latin typeface="Arial" panose="020B0604020202020204" pitchFamily="34" charset="0"/>
                <a:cs typeface="Arial" panose="020B0604020202020204" pitchFamily="34" charset="0"/>
              </a:rPr>
              <a:t>.  Patients with IDDM administer insulin to themselves by subcutaneous injection. </a:t>
            </a:r>
            <a:r>
              <a:rPr lang="en-US" sz="1100" dirty="0">
                <a:highlight>
                  <a:srgbClr val="FFFF00"/>
                </a:highlight>
                <a:latin typeface="Arial" panose="020B0604020202020204" pitchFamily="34" charset="0"/>
                <a:cs typeface="Arial" panose="020B0604020202020204" pitchFamily="34" charset="0"/>
              </a:rPr>
              <a:t>Insulin doses are given one or more times a day, </a:t>
            </a:r>
            <a:r>
              <a:rPr lang="en-US" sz="1100" dirty="0">
                <a:latin typeface="Arial" panose="020B0604020202020204" pitchFamily="34" charset="0"/>
                <a:cs typeface="Arial" panose="020B0604020202020204" pitchFamily="34" charset="0"/>
              </a:rPr>
              <a:t>typically before meals and sometimes also at bedtime. Many insulin regimens are devised to have the peak insulin action coincide with the peak rise in BG during meals. In order to achieve this, a combination of several preparations of insulin may be administered. Each insulin formulation has its own characteristic time of onset of effect (O), time of peak action (P) and effective duration (D). These times can be significantly affected by many factors such as the site of injection (e.g. much more rapid absorption in the abdomen than in the thigh) or whether the insulin is a human insulin or an animal extract. The times I have listed below are rough approximations and I am sure that I could find an endocrinologist with different estimates. </a:t>
            </a:r>
          </a:p>
          <a:p>
            <a:pPr lvl="1">
              <a:lnSpc>
                <a:spcPts val="1200"/>
              </a:lnSpc>
            </a:pPr>
            <a:r>
              <a:rPr lang="en-US" sz="1100" dirty="0">
                <a:latin typeface="Arial" panose="020B0604020202020204" pitchFamily="34" charset="0"/>
                <a:cs typeface="Arial" panose="020B0604020202020204" pitchFamily="34" charset="0"/>
              </a:rPr>
              <a:t>Regular Insulin: O 15-45 minutes P 1-3 hours D 4-6 hours</a:t>
            </a:r>
          </a:p>
          <a:p>
            <a:pPr lvl="1">
              <a:lnSpc>
                <a:spcPts val="1200"/>
              </a:lnSpc>
            </a:pPr>
            <a:r>
              <a:rPr lang="en-US" sz="1100" dirty="0">
                <a:latin typeface="Arial" panose="020B0604020202020204" pitchFamily="34" charset="0"/>
                <a:cs typeface="Arial" panose="020B0604020202020204" pitchFamily="34" charset="0"/>
              </a:rPr>
              <a:t>NPH Insulin: O 1-3 hours P 4-6 hours D: 10-14 hours</a:t>
            </a:r>
          </a:p>
          <a:p>
            <a:pPr lvl="1">
              <a:lnSpc>
                <a:spcPts val="1200"/>
              </a:lnSpc>
            </a:pPr>
            <a:r>
              <a:rPr lang="en-US" sz="1100" dirty="0" err="1">
                <a:latin typeface="Arial" panose="020B0604020202020204" pitchFamily="34" charset="0"/>
                <a:cs typeface="Arial" panose="020B0604020202020204" pitchFamily="34" charset="0"/>
              </a:rPr>
              <a:t>Ultralente</a:t>
            </a:r>
            <a:r>
              <a:rPr lang="en-US" sz="1100" dirty="0">
                <a:latin typeface="Arial" panose="020B0604020202020204" pitchFamily="34" charset="0"/>
                <a:cs typeface="Arial" panose="020B0604020202020204" pitchFamily="34" charset="0"/>
              </a:rPr>
              <a:t>: O: 2-5 hours. P (not much of a peak) D 24-30 hours.</a:t>
            </a:r>
          </a:p>
          <a:p>
            <a:pPr>
              <a:lnSpc>
                <a:spcPts val="1200"/>
              </a:lnSpc>
            </a:pPr>
            <a:r>
              <a:rPr lang="en-US" sz="1100" b="1" dirty="0">
                <a:latin typeface="Arial" panose="020B0604020202020204" pitchFamily="34" charset="0"/>
                <a:cs typeface="Arial" panose="020B0604020202020204" pitchFamily="34" charset="0"/>
              </a:rPr>
              <a:t>EXERCISE</a:t>
            </a:r>
            <a:r>
              <a:rPr lang="en-US" sz="1100" dirty="0">
                <a:latin typeface="Arial" panose="020B0604020202020204" pitchFamily="34" charset="0"/>
                <a:cs typeface="Arial" panose="020B0604020202020204" pitchFamily="34" charset="0"/>
              </a:rPr>
              <a:t> </a:t>
            </a:r>
            <a:r>
              <a:rPr lang="en-US" sz="1100" dirty="0" err="1">
                <a:highlight>
                  <a:srgbClr val="FFFF00"/>
                </a:highlight>
                <a:latin typeface="Arial" panose="020B0604020202020204" pitchFamily="34" charset="0"/>
                <a:cs typeface="Arial" panose="020B0604020202020204" pitchFamily="34" charset="0"/>
              </a:rPr>
              <a:t>Exercise</a:t>
            </a:r>
            <a:r>
              <a:rPr lang="en-US" sz="1100" dirty="0">
                <a:highlight>
                  <a:srgbClr val="FFFF00"/>
                </a:highlight>
                <a:latin typeface="Arial" panose="020B0604020202020204" pitchFamily="34" charset="0"/>
                <a:cs typeface="Arial" panose="020B0604020202020204" pitchFamily="34" charset="0"/>
              </a:rPr>
              <a:t> appears to have multiple effects on BG control</a:t>
            </a:r>
            <a:r>
              <a:rPr lang="en-US" sz="1100" dirty="0">
                <a:latin typeface="Arial" panose="020B0604020202020204" pitchFamily="34" charset="0"/>
                <a:cs typeface="Arial" panose="020B0604020202020204" pitchFamily="34" charset="0"/>
              </a:rPr>
              <a:t>. Two important effects are: increased caloric expenditure and a possibly independent increase in the sensitivity of tissues to insulin action.  BG can fall during exercise but also quite a few hours afterwards. For instance, strenuous exercise in the mid-afternoon can be associated with low BG after dinner. Also, too strenuous exercise with associated mild dehydration can lead to a transient increase in BG.</a:t>
            </a:r>
          </a:p>
          <a:p>
            <a:pPr>
              <a:lnSpc>
                <a:spcPts val="1200"/>
              </a:lnSpc>
            </a:pPr>
            <a:r>
              <a:rPr lang="en-US" sz="1100" b="1" dirty="0">
                <a:latin typeface="Arial" panose="020B0604020202020204" pitchFamily="34" charset="0"/>
                <a:cs typeface="Arial" panose="020B0604020202020204" pitchFamily="34" charset="0"/>
              </a:rPr>
              <a:t>DIET</a:t>
            </a:r>
            <a:r>
              <a:rPr lang="en-US" sz="1100" dirty="0">
                <a:latin typeface="Arial" panose="020B0604020202020204" pitchFamily="34" charset="0"/>
                <a:cs typeface="Arial" panose="020B0604020202020204" pitchFamily="34" charset="0"/>
              </a:rPr>
              <a:t>. Another vast subject but (suffice it to say for the purposes of users of the data set) in brief: </a:t>
            </a:r>
            <a:r>
              <a:rPr lang="en-US" sz="1100" dirty="0">
                <a:highlight>
                  <a:srgbClr val="FFFF00"/>
                </a:highlight>
                <a:latin typeface="Arial" panose="020B0604020202020204" pitchFamily="34" charset="0"/>
                <a:cs typeface="Arial" panose="020B0604020202020204" pitchFamily="34" charset="0"/>
              </a:rPr>
              <a:t>a larger meal will lead to a longer and possibly higher elevation of blood glucose</a:t>
            </a:r>
            <a:r>
              <a:rPr lang="en-US" sz="1100" dirty="0">
                <a:latin typeface="Arial" panose="020B0604020202020204" pitchFamily="34" charset="0"/>
                <a:cs typeface="Arial" panose="020B0604020202020204" pitchFamily="34" charset="0"/>
              </a:rPr>
              <a:t>. The actual effect depends on a host of variables, notably the kind of food ingested. For instance, fat causes delayed emptying of the stomach and therefore a slower rise in BG than a starchy meal without fat. Missing a meal or eating a meal of smaller than usual size will put the patient at risk for low BG in the hours that follow the meal.</a:t>
            </a:r>
          </a:p>
          <a:p>
            <a:pPr>
              <a:lnSpc>
                <a:spcPts val="1200"/>
              </a:lnSpc>
            </a:pPr>
            <a:r>
              <a:rPr lang="en-US" sz="1100" dirty="0">
                <a:highlight>
                  <a:srgbClr val="FFFF00"/>
                </a:highlight>
                <a:latin typeface="Arial" panose="020B0604020202020204" pitchFamily="34" charset="0"/>
                <a:cs typeface="Arial" panose="020B0604020202020204" pitchFamily="34" charset="0"/>
              </a:rPr>
              <a:t>GLUCOSE CONCENTRATIONS</a:t>
            </a:r>
            <a:r>
              <a:rPr lang="en-US" sz="1100" dirty="0">
                <a:latin typeface="Arial" panose="020B0604020202020204" pitchFamily="34" charset="0"/>
                <a:cs typeface="Arial" panose="020B0604020202020204" pitchFamily="34" charset="0"/>
              </a:rPr>
              <a:t>. BG concentration will vary even in individuals with normal pancreatic hormonal function.  A </a:t>
            </a:r>
            <a:r>
              <a:rPr lang="en-US" sz="1100" dirty="0">
                <a:highlight>
                  <a:srgbClr val="FFFF00"/>
                </a:highlight>
                <a:latin typeface="Arial" panose="020B0604020202020204" pitchFamily="34" charset="0"/>
                <a:cs typeface="Arial" panose="020B0604020202020204" pitchFamily="34" charset="0"/>
              </a:rPr>
              <a:t>normal pre-meal BG ranges approximately 80-120 mg/dl</a:t>
            </a:r>
            <a:r>
              <a:rPr lang="en-US" sz="1100" dirty="0">
                <a:latin typeface="Arial" panose="020B0604020202020204" pitchFamily="34" charset="0"/>
                <a:cs typeface="Arial" panose="020B0604020202020204" pitchFamily="34" charset="0"/>
              </a:rPr>
              <a:t>. A normal post-meal BG ranges 80-140 mg/dl. The target range for an individual with diabetes mellitus is very controversial. I will cut the Gordian knot on this issue by noting that it would be very desirable to keep 90% of all BG measurements &lt; 200 mg/dl and that the average BG should be 150 mg/dl or less. Note that it  takes a lot of work, attention and (painful) BG checks to reach this target range. Conversely, an average BG &gt; 200 (over several years) is associated with a poor long-term outcome. That is, the risk of vascular complications of the high BG is </a:t>
            </a:r>
            <a:r>
              <a:rPr lang="en-US" sz="1100" dirty="0" err="1">
                <a:latin typeface="Arial" panose="020B0604020202020204" pitchFamily="34" charset="0"/>
                <a:cs typeface="Arial" panose="020B0604020202020204" pitchFamily="34" charset="0"/>
              </a:rPr>
              <a:t>signicantly</a:t>
            </a:r>
            <a:r>
              <a:rPr lang="en-US" sz="1100" dirty="0">
                <a:latin typeface="Arial" panose="020B0604020202020204" pitchFamily="34" charset="0"/>
                <a:cs typeface="Arial" panose="020B0604020202020204" pitchFamily="34" charset="0"/>
              </a:rPr>
              <a:t> elevated.</a:t>
            </a:r>
          </a:p>
          <a:p>
            <a:pPr>
              <a:lnSpc>
                <a:spcPts val="1200"/>
              </a:lnSpc>
            </a:pPr>
            <a:r>
              <a:rPr lang="en-US" sz="1100" dirty="0">
                <a:highlight>
                  <a:srgbClr val="FFFF00"/>
                </a:highlight>
                <a:latin typeface="Arial" panose="020B0604020202020204" pitchFamily="34" charset="0"/>
                <a:cs typeface="Arial" panose="020B0604020202020204" pitchFamily="34" charset="0"/>
              </a:rPr>
              <a:t>Hypoglycemic (low BG) symptoms fall into two classes.</a:t>
            </a:r>
            <a:r>
              <a:rPr lang="en-US" sz="1100" dirty="0">
                <a:latin typeface="Arial" panose="020B0604020202020204" pitchFamily="34" charset="0"/>
                <a:cs typeface="Arial" panose="020B0604020202020204" pitchFamily="34" charset="0"/>
              </a:rPr>
              <a:t> Between 40-80 mg/dl, the patient feels the effect off the adrenal hormone epinephrine as the BG regulation systems attempt to reverse the low BG.  These so-called adrenergic symptoms (headache, abdominal pain, sweating) are useful, if unpleasant, cues to the patient that their BG is falling dangerously. Below 40 mg/dl, the patient's brain is inadequately supplied with glucose and the symptoms become those of poor brain function (neuroglycopenic symptoms). These include: lethargy, weakness, disorientation, seizures and passing out.</a:t>
            </a:r>
            <a:endParaRPr lang="en-US" sz="11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7931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19119-2905-570E-4248-BF02950F7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338F5-3214-3529-2349-D6A92CDD5785}"/>
              </a:ext>
            </a:extLst>
          </p:cNvPr>
          <p:cNvSpPr>
            <a:spLocks noGrp="1"/>
          </p:cNvSpPr>
          <p:nvPr>
            <p:ph type="title"/>
          </p:nvPr>
        </p:nvSpPr>
        <p:spPr>
          <a:xfrm>
            <a:off x="191653" y="23382"/>
            <a:ext cx="11778673" cy="583766"/>
          </a:xfrm>
        </p:spPr>
        <p:txBody>
          <a:bodyPr>
            <a:normAutofit/>
          </a:bodyPr>
          <a:lstStyle/>
          <a:p>
            <a:pPr>
              <a:lnSpc>
                <a:spcPts val="1200"/>
              </a:lnSpc>
            </a:pPr>
            <a:r>
              <a:rPr lang="en-US" sz="2000" b="1" dirty="0">
                <a:latin typeface="Arial" panose="020B0604020202020204" pitchFamily="34" charset="0"/>
                <a:cs typeface="Arial" panose="020B0604020202020204" pitchFamily="34" charset="0"/>
              </a:rPr>
              <a:t>Python libraries</a:t>
            </a:r>
            <a:endParaRPr lang="en-US" sz="2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FEDA713-7E3C-21DA-DF9C-6357E27C895D}"/>
              </a:ext>
            </a:extLst>
          </p:cNvPr>
          <p:cNvSpPr>
            <a:spLocks noGrp="1"/>
          </p:cNvSpPr>
          <p:nvPr>
            <p:ph idx="1"/>
          </p:nvPr>
        </p:nvSpPr>
        <p:spPr>
          <a:xfrm>
            <a:off x="163944" y="514785"/>
            <a:ext cx="11778673" cy="5895975"/>
          </a:xfrm>
        </p:spPr>
        <p:txBody>
          <a:bodyPr>
            <a:noAutofit/>
          </a:bodyPr>
          <a:lstStyle/>
          <a:p>
            <a:pPr marL="0" indent="0">
              <a:lnSpc>
                <a:spcPts val="1200"/>
              </a:lnSpc>
              <a:buNone/>
            </a:pPr>
            <a:r>
              <a:rPr lang="en-US" sz="1200" b="1" dirty="0">
                <a:latin typeface="Arial" panose="020B0604020202020204" pitchFamily="34" charset="0"/>
                <a:cs typeface="Arial" panose="020B0604020202020204" pitchFamily="34" charset="0"/>
              </a:rPr>
              <a:t>Stage: Validation and Data</a:t>
            </a:r>
          </a:p>
          <a:p>
            <a:pPr>
              <a:lnSpc>
                <a:spcPts val="1200"/>
              </a:lnSpc>
            </a:pPr>
            <a:r>
              <a:rPr lang="en-US" sz="1200" dirty="0">
                <a:latin typeface="Arial" panose="020B0604020202020204" pitchFamily="34" charset="0"/>
                <a:cs typeface="Arial" panose="020B0604020202020204" pitchFamily="34" charset="0"/>
              </a:rPr>
              <a:t>Data set: </a:t>
            </a:r>
            <a:r>
              <a:rPr lang="en-US" sz="1200" dirty="0">
                <a:latin typeface="Arial" panose="020B0604020202020204" pitchFamily="34" charset="0"/>
                <a:cs typeface="Arial" panose="020B0604020202020204" pitchFamily="34" charset="0"/>
                <a:hlinkClick r:id="rId2"/>
              </a:rPr>
              <a:t>https://archive.ics.uci.edu/dataset/34/diabetes</a:t>
            </a:r>
            <a:r>
              <a:rPr lang="en-US" sz="1200" dirty="0">
                <a:latin typeface="Arial" panose="020B0604020202020204" pitchFamily="34" charset="0"/>
                <a:cs typeface="Arial" panose="020B0604020202020204" pitchFamily="34" charset="0"/>
              </a:rPr>
              <a:t> </a:t>
            </a:r>
          </a:p>
          <a:p>
            <a:pPr>
              <a:lnSpc>
                <a:spcPts val="1200"/>
              </a:lnSpc>
            </a:pPr>
            <a:r>
              <a:rPr lang="en-US" sz="1200" dirty="0">
                <a:latin typeface="Arial" panose="020B0604020202020204" pitchFamily="34" charset="0"/>
                <a:cs typeface="Arial" panose="020B0604020202020204" pitchFamily="34" charset="0"/>
              </a:rPr>
              <a:t>Data compression: </a:t>
            </a:r>
            <a:r>
              <a:rPr lang="en-US" sz="1200" dirty="0">
                <a:latin typeface="Arial" panose="020B0604020202020204" pitchFamily="34" charset="0"/>
                <a:cs typeface="Arial" panose="020B0604020202020204" pitchFamily="34" charset="0"/>
                <a:hlinkClick r:id="rId3"/>
              </a:rPr>
              <a:t>https://pypi.org/project/ncompress/</a:t>
            </a:r>
            <a:r>
              <a:rPr lang="en-US" sz="1200" dirty="0">
                <a:latin typeface="Arial" panose="020B0604020202020204" pitchFamily="34" charset="0"/>
                <a:cs typeface="Arial" panose="020B0604020202020204" pitchFamily="34" charset="0"/>
              </a:rPr>
              <a:t> </a:t>
            </a:r>
          </a:p>
          <a:p>
            <a:pPr>
              <a:lnSpc>
                <a:spcPts val="1200"/>
              </a:lnSpc>
            </a:pPr>
            <a:r>
              <a:rPr lang="en-US" sz="1200" dirty="0">
                <a:latin typeface="Arial" panose="020B0604020202020204" pitchFamily="34" charset="0"/>
                <a:cs typeface="Arial" panose="020B0604020202020204" pitchFamily="34" charset="0"/>
              </a:rPr>
              <a:t>Tarfile library: </a:t>
            </a:r>
            <a:r>
              <a:rPr lang="en-US" sz="1200" dirty="0">
                <a:latin typeface="Arial" panose="020B0604020202020204" pitchFamily="34" charset="0"/>
                <a:cs typeface="Arial" panose="020B0604020202020204" pitchFamily="34" charset="0"/>
                <a:hlinkClick r:id="rId4"/>
              </a:rPr>
              <a:t>https://docs.python.org/3/library/tarfile.html</a:t>
            </a:r>
            <a:r>
              <a:rPr lang="en-US" sz="1200" dirty="0">
                <a:latin typeface="Arial" panose="020B0604020202020204" pitchFamily="34" charset="0"/>
                <a:cs typeface="Arial" panose="020B0604020202020204" pitchFamily="34" charset="0"/>
              </a:rPr>
              <a:t> </a:t>
            </a:r>
          </a:p>
          <a:p>
            <a:pPr>
              <a:lnSpc>
                <a:spcPts val="1200"/>
              </a:lnSpc>
            </a:pPr>
            <a:r>
              <a:rPr lang="en-US" sz="1200" dirty="0">
                <a:latin typeface="Arial" panose="020B0604020202020204" pitchFamily="34" charset="0"/>
                <a:cs typeface="Arial" panose="020B0604020202020204" pitchFamily="34" charset="0"/>
              </a:rPr>
              <a:t>Unlzw3 (not used): </a:t>
            </a:r>
          </a:p>
          <a:p>
            <a:pPr lvl="1">
              <a:lnSpc>
                <a:spcPts val="1200"/>
              </a:lnSpc>
            </a:pPr>
            <a:r>
              <a:rPr lang="en-US" sz="1200" dirty="0">
                <a:latin typeface="Arial" panose="020B0604020202020204" pitchFamily="34" charset="0"/>
                <a:cs typeface="Arial" panose="020B0604020202020204" pitchFamily="34" charset="0"/>
                <a:hlinkClick r:id="rId5"/>
              </a:rPr>
              <a:t>https://anaconda.org/channels/conda-forge/packages/unlzw3/overview</a:t>
            </a:r>
            <a:r>
              <a:rPr lang="en-US" sz="1200" dirty="0">
                <a:latin typeface="Arial" panose="020B0604020202020204" pitchFamily="34" charset="0"/>
                <a:cs typeface="Arial" panose="020B0604020202020204" pitchFamily="34" charset="0"/>
              </a:rPr>
              <a:t> </a:t>
            </a:r>
          </a:p>
          <a:p>
            <a:pPr lvl="1">
              <a:lnSpc>
                <a:spcPts val="1200"/>
              </a:lnSpc>
            </a:pPr>
            <a:r>
              <a:rPr lang="en-US" sz="1200" dirty="0">
                <a:latin typeface="Arial" panose="020B0604020202020204" pitchFamily="34" charset="0"/>
                <a:cs typeface="Arial" panose="020B0604020202020204" pitchFamily="34" charset="0"/>
                <a:hlinkClick r:id="rId6"/>
              </a:rPr>
              <a:t>https://pypi.org/project/unlzw3/</a:t>
            </a:r>
            <a:r>
              <a:rPr lang="en-US" sz="1200" dirty="0">
                <a:latin typeface="Arial" panose="020B0604020202020204" pitchFamily="34" charset="0"/>
                <a:cs typeface="Arial" panose="020B0604020202020204" pitchFamily="34" charset="0"/>
              </a:rPr>
              <a:t> </a:t>
            </a:r>
          </a:p>
          <a:p>
            <a:pPr>
              <a:lnSpc>
                <a:spcPts val="1200"/>
              </a:lnSpc>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634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1248</TotalTime>
  <Words>3286</Words>
  <Application>Microsoft Office PowerPoint</Application>
  <PresentationFormat>Widescreen</PresentationFormat>
  <Paragraphs>152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Final Project</vt:lpstr>
      <vt:lpstr>Slide 2: Contributions of each team member (1 slide)</vt:lpstr>
      <vt:lpstr>3. Problem Description</vt:lpstr>
      <vt:lpstr>4. Optimization Model</vt:lpstr>
      <vt:lpstr>5. Proposed Solution</vt:lpstr>
      <vt:lpstr>Validating Solution:</vt:lpstr>
      <vt:lpstr>Validating Solution:</vt:lpstr>
      <vt:lpstr>Validating Solution:</vt:lpstr>
      <vt:lpstr>Validating Solution:</vt:lpstr>
      <vt:lpstr>Validating Solution:</vt:lpstr>
      <vt:lpstr>Validating Solution:</vt:lpstr>
      <vt:lpstr>Validating Solution:</vt:lpstr>
      <vt:lpstr>7. Key Insights</vt:lpstr>
      <vt:lpstr>8. Major Conclusions</vt:lpstr>
      <vt:lpstr>9. Suggestions for Improvement and Future Work</vt:lpstr>
      <vt:lpstr>Data Sourcing</vt:lpstr>
      <vt:lpstr>Overview of the data (per the domain description file):</vt:lpstr>
      <vt:lpstr>Python libraries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Ognibene</dc:creator>
  <cp:lastModifiedBy>Christopher Ognibene</cp:lastModifiedBy>
  <cp:revision>22</cp:revision>
  <dcterms:created xsi:type="dcterms:W3CDTF">2026-04-29T11:04:18Z</dcterms:created>
  <dcterms:modified xsi:type="dcterms:W3CDTF">2026-05-06T02:27:39Z</dcterms:modified>
</cp:coreProperties>
</file>